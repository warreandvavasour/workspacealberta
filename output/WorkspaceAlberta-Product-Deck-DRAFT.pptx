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2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3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4" Type="http://schemas.openxmlformats.org/officeDocument/2006/relationships/image" Target="../media/image4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0A0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Image1"/>
          <a:srcRect t="14207" b="1420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bg-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07">
              <a:alpha val="80000"/>
            </a:srgbClr>
          </a:solidFill>
          <a:ln>
            <a:noFill/>
          </a:ln>
        </p:spPr>
      </p:sp>
      <p:sp>
        <p:nvSpPr>
          <p:cNvPr id="4" name="bg-grad"/>
          <p:cNvSpPr/>
          <p:nvPr/>
        </p:nvSpPr>
        <p:spPr>
          <a:xfrm>
            <a:off x="0" y="3556000"/>
            <a:ext cx="12192000" cy="3302000"/>
          </a:xfrm>
          <a:prstGeom prst="rect">
            <a:avLst/>
          </a:prstGeom>
          <a:gradFill rotWithShape="1">
            <a:gsLst>
              <a:gs pos="0">
                <a:srgbClr val="0A0807">
                  <a:alpha val="0"/>
                </a:srgbClr>
              </a:gs>
              <a:gs pos="100000">
                <a:srgbClr val="0A0807">
                  <a:alpha val="90196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812800" y="4826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D9A441"/>
                </a:solidFill>
                <a:latin typeface="Liter"/>
                <a:ea typeface="Liter"/>
              </a:rPr>
              <a:t>WARRE &amp; VAVASOUR · AN AI LABORATORY</a:t>
            </a:r>
            <a:endParaRPr lang="en-US" sz="1000"/>
          </a:p>
        </p:txBody>
      </p:sp>
      <p:sp>
        <p:nvSpPr>
          <p:cNvPr id="6" name="top-right"/>
          <p:cNvSpPr txBox="1"/>
          <p:nvPr/>
        </p:nvSpPr>
        <p:spPr>
          <a:xfrm>
            <a:off x="7112000" y="482600"/>
            <a:ext cx="426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BOW VALLEY, ALBERTA · 2026</a:t>
            </a:r>
            <a:endParaRPr lang="en-US" sz="1000"/>
          </a:p>
        </p:txBody>
      </p:sp>
      <p:sp>
        <p:nvSpPr>
          <p:cNvPr id="7" name="headline"/>
          <p:cNvSpPr txBox="1"/>
          <p:nvPr/>
        </p:nvSpPr>
        <p:spPr>
          <a:xfrm>
            <a:off x="812800" y="2489200"/>
            <a:ext cx="9906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6400">
                <a:solidFill>
                  <a:srgbClr val="F3EDE1"/>
                </a:solidFill>
                <a:latin typeface="Oranienbaum"/>
                <a:ea typeface="Oranienbaum"/>
              </a:rPr>
              <a:t>Welcome to Work, Alberta.</a:t>
            </a:r>
            <a:endParaRPr lang="en-US" sz="6400"/>
          </a:p>
        </p:txBody>
      </p:sp>
      <p:sp>
        <p:nvSpPr>
          <p:cNvPr id="8" name="sub"/>
          <p:cNvSpPr txBox="1"/>
          <p:nvPr/>
        </p:nvSpPr>
        <p:spPr>
          <a:xfrm>
            <a:off x="812800" y="3733800"/>
            <a:ext cx="711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60000"/>
              </a:lnSpc>
            </a:pPr>
            <a:r>
              <a:rPr lang="en-US" sz="160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WorkspaceAlberta — live government demand, wired directly to the people who can do the work.</a:t>
            </a:r>
            <a:endParaRPr lang="en-US" sz="1600"/>
          </a:p>
        </p:txBody>
      </p:sp>
      <p:sp>
        <p:nvSpPr>
          <p:cNvPr id="9" name="rule"/>
          <p:cNvSpPr/>
          <p:nvPr/>
        </p:nvSpPr>
        <p:spPr>
          <a:xfrm>
            <a:off x="812800" y="5562600"/>
            <a:ext cx="1524000" cy="25400"/>
          </a:xfrm>
          <a:prstGeom prst="rect">
            <a:avLst/>
          </a:prstGeom>
          <a:solidFill>
            <a:srgbClr val="D9A441"/>
          </a:solidFill>
          <a:ln>
            <a:noFill/>
          </a:ln>
        </p:spPr>
      </p:sp>
      <p:sp>
        <p:nvSpPr>
          <p:cNvPr id="10" name="strip-label"/>
          <p:cNvSpPr txBox="1"/>
          <p:nvPr/>
        </p:nvSpPr>
        <p:spPr>
          <a:xfrm>
            <a:off x="812800" y="57658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PRODUCT BRIEF · THE FIRST OFFERING IS OPEN AND FREE</a:t>
            </a:r>
            <a:endParaRPr lang="en-US" sz="1000"/>
          </a:p>
        </p:txBody>
      </p:sp>
      <p:sp>
        <p:nvSpPr>
          <p:cNvPr id="11" name="credit"/>
          <p:cNvSpPr txBox="1"/>
          <p:nvPr/>
        </p:nvSpPr>
        <p:spPr>
          <a:xfrm>
            <a:off x="62992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00" spc="20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Canadian industrial war production · Library and Archives Canada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0A0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01 · THE LAST MILE</a:t>
            </a:r>
            <a:endParaRPr lang="en-US" sz="1000"/>
          </a:p>
        </p:txBody>
      </p:sp>
      <p:sp>
        <p:nvSpPr>
          <p:cNvPr id="3" name="top-right"/>
          <p:cNvSpPr txBox="1"/>
          <p:nvPr/>
        </p:nvSpPr>
        <p:spPr>
          <a:xfrm>
            <a:off x="8382000" y="4572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W&amp;V · WORKSPACEALBERTA</a:t>
            </a:r>
            <a:endParaRPr lang="en-US" sz="1000"/>
          </a:p>
        </p:txBody>
      </p:sp>
      <p:sp>
        <p:nvSpPr>
          <p:cNvPr id="4" name="h1"/>
          <p:cNvSpPr txBox="1"/>
          <p:nvPr/>
        </p:nvSpPr>
        <p:spPr>
          <a:xfrm>
            <a:off x="812800" y="1117600"/>
            <a:ext cx="105664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4400">
                <a:solidFill>
                  <a:srgbClr val="F3EDE1"/>
                </a:solidFill>
                <a:latin typeface="Oranienbaum"/>
                <a:ea typeface="Oranienbaum"/>
              </a:rPr>
              <a:t>AI promised 5X productivity.</a:t>
            </a:r>
            <a:endParaRPr lang="en-US" sz="4400"/>
          </a:p>
        </p:txBody>
      </p:sp>
      <p:sp>
        <p:nvSpPr>
          <p:cNvPr id="5" name="h2"/>
          <p:cNvSpPr txBox="1"/>
          <p:nvPr/>
        </p:nvSpPr>
        <p:spPr>
          <a:xfrm>
            <a:off x="812800" y="1930400"/>
            <a:ext cx="6604000" cy="198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10000"/>
              </a:lnSpc>
            </a:pPr>
            <a:r>
              <a:rPr lang="en-US" sz="4400">
                <a:solidFill>
                  <a:srgbClr val="F3EDE1">
                    <a:alpha val="40000"/>
                  </a:srgbClr>
                </a:solidFill>
                <a:latin typeface="Oranienbaum"/>
                <a:ea typeface="Oranienbaum"/>
              </a:rPr>
              <a:t>Most small businesses got a </a:t>
            </a:r>
            <a:r>
              <a:rPr lang="en-US" sz="4400">
                <a:solidFill>
                  <a:srgbClr val="C2542A"/>
                </a:solidFill>
                <a:latin typeface="Oranienbaum"/>
                <a:ea typeface="Oranienbaum"/>
              </a:rPr>
              <a:t>chatbot</a:t>
            </a:r>
            <a:r>
              <a:rPr lang="en-US" sz="4400">
                <a:solidFill>
                  <a:srgbClr val="F3EDE1">
                    <a:alpha val="40000"/>
                  </a:srgbClr>
                </a:solidFill>
                <a:latin typeface="Oranienbaum"/>
                <a:ea typeface="Oranienbaum"/>
              </a:rPr>
              <a:t> that writes mediocre marketing copy.</a:t>
            </a:r>
            <a:endParaRPr lang="en-US" sz="4400"/>
          </a:p>
        </p:txBody>
      </p:sp>
      <p:sp>
        <p:nvSpPr>
          <p:cNvPr id="6" name="body"/>
          <p:cNvSpPr txBox="1"/>
          <p:nvPr/>
        </p:nvSpPr>
        <p:spPr>
          <a:xfrm>
            <a:off x="812800" y="4191000"/>
            <a:ext cx="6350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The model is not the bottleneck. The connection is. Government tender databases are the perfect example: the work is public, the demand is real, but the discovery process is still awkward enough that good companies miss good opportunities.</a:t>
            </a:r>
            <a:endParaRPr lang="en-US" sz="1500"/>
          </a:p>
        </p:txBody>
      </p:sp>
      <p:pic>
        <p:nvPicPr>
          <p:cNvPr id="7" name="photo"/>
          <p:cNvPicPr/>
          <p:nvPr/>
        </p:nvPicPr>
        <p:blipFill>
          <a:blip r:embed="rIdImage2"/>
          <a:srcRect l="6980" r="6980"/>
          <a:stretch>
            <a:fillRect/>
          </a:stretch>
        </p:blipFill>
        <p:spPr>
          <a:xfrm>
            <a:off x="7772400" y="1727200"/>
            <a:ext cx="3606800" cy="4318000"/>
          </a:xfrm>
          <a:prstGeom prst="rect">
            <a:avLst/>
          </a:prstGeom>
          <a:ln>
            <a:noFill/>
          </a:ln>
        </p:spPr>
      </p:pic>
      <p:sp>
        <p:nvSpPr>
          <p:cNvPr id="8" name="photo-border"/>
          <p:cNvSpPr/>
          <p:nvPr/>
        </p:nvSpPr>
        <p:spPr>
          <a:xfrm>
            <a:off x="7772400" y="1727200"/>
            <a:ext cx="3606800" cy="4318000"/>
          </a:xfrm>
          <a:prstGeom prst="rect">
            <a:avLst/>
          </a:prstGeom>
          <a:noFill/>
          <a:ln w="12700">
            <a:solidFill>
              <a:srgbClr val="F3EDE1">
                <a:alpha val="21961"/>
              </a:srgbClr>
            </a:solidFill>
          </a:ln>
        </p:spPr>
      </p:sp>
      <p:sp>
        <p:nvSpPr>
          <p:cNvPr id="9" name="photo-overlay"/>
          <p:cNvSpPr/>
          <p:nvPr/>
        </p:nvSpPr>
        <p:spPr>
          <a:xfrm>
            <a:off x="7772400" y="1727200"/>
            <a:ext cx="3606800" cy="4318000"/>
          </a:xfrm>
          <a:prstGeom prst="rect">
            <a:avLst/>
          </a:prstGeom>
          <a:solidFill>
            <a:srgbClr val="0A0807">
              <a:alpha val="34902"/>
            </a:srgbClr>
          </a:solidFill>
          <a:ln>
            <a:noFill/>
          </a:ln>
        </p:spPr>
      </p:sp>
      <p:sp>
        <p:nvSpPr>
          <p:cNvPr id="10" name="caption"/>
          <p:cNvSpPr txBox="1"/>
          <p:nvPr/>
        </p:nvSpPr>
        <p:spPr>
          <a:xfrm>
            <a:off x="7772400" y="6146800"/>
            <a:ext cx="3606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900" spc="20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Sophie O'Kowinski, John Inglis Co., 1943 · Library and Archives Canada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0A0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02 · THE SENTENCE THAT STARTS EVERYTHING</a:t>
            </a:r>
            <a:endParaRPr lang="en-US" sz="1000"/>
          </a:p>
        </p:txBody>
      </p:sp>
      <p:sp>
        <p:nvSpPr>
          <p:cNvPr id="3" name="top-right"/>
          <p:cNvSpPr txBox="1"/>
          <p:nvPr/>
        </p:nvSpPr>
        <p:spPr>
          <a:xfrm>
            <a:off x="8382000" y="4572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W&amp;V · WORKSPACEALBERTA</a:t>
            </a:r>
            <a:endParaRPr lang="en-US" sz="1000"/>
          </a:p>
        </p:txBody>
      </p:sp>
      <p:sp>
        <p:nvSpPr>
          <p:cNvPr id="4" name="lead-in"/>
          <p:cNvSpPr txBox="1"/>
          <p:nvPr/>
        </p:nvSpPr>
        <p:spPr>
          <a:xfrm>
            <a:off x="812800" y="1320800"/>
            <a:ext cx="762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2200" i="1">
                <a:solidFill>
                  <a:srgbClr val="E8C277"/>
                </a:solidFill>
                <a:latin typeface="Oranienbaum"/>
                <a:ea typeface="Oranienbaum"/>
              </a:rPr>
              <a:t>Wouldn't it be great if…</a:t>
            </a:r>
            <a:endParaRPr lang="en-US" sz="2200"/>
          </a:p>
        </p:txBody>
      </p:sp>
      <p:sp>
        <p:nvSpPr>
          <p:cNvPr id="5" name="wish-1"/>
          <p:cNvSpPr txBox="1"/>
          <p:nvPr/>
        </p:nvSpPr>
        <p:spPr>
          <a:xfrm>
            <a:off x="812800" y="21590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2500">
                <a:solidFill>
                  <a:srgbClr val="F3EDE1"/>
                </a:solidFill>
                <a:latin typeface="Oranienbaum"/>
                <a:ea typeface="Oranienbaum"/>
              </a:rPr>
              <a:t>— a fabricator saw the right tender before the deadline was already too close</a:t>
            </a:r>
            <a:endParaRPr lang="en-US" sz="2500"/>
          </a:p>
        </p:txBody>
      </p:sp>
      <p:sp>
        <p:nvSpPr>
          <p:cNvPr id="6" name="sep-1"/>
          <p:cNvSpPr/>
          <p:nvPr/>
        </p:nvSpPr>
        <p:spPr>
          <a:xfrm>
            <a:off x="812800" y="2768600"/>
            <a:ext cx="10566400" cy="12700"/>
          </a:xfrm>
          <a:prstGeom prst="rect">
            <a:avLst/>
          </a:prstGeom>
          <a:solidFill>
            <a:srgbClr val="F3EDE1">
              <a:alpha val="12157"/>
            </a:srgbClr>
          </a:solidFill>
          <a:ln>
            <a:noFill/>
          </a:ln>
        </p:spPr>
      </p:sp>
      <p:sp>
        <p:nvSpPr>
          <p:cNvPr id="7" name="wish-2"/>
          <p:cNvSpPr txBox="1"/>
          <p:nvPr/>
        </p:nvSpPr>
        <p:spPr>
          <a:xfrm>
            <a:off x="812800" y="29972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2500">
                <a:solidFill>
                  <a:srgbClr val="F3EDE1"/>
                </a:solidFill>
                <a:latin typeface="Oranienbaum"/>
                <a:ea typeface="Oranienbaum"/>
              </a:rPr>
              <a:t>— a contractor could ask one question across federal and Alberta postings</a:t>
            </a:r>
            <a:endParaRPr lang="en-US" sz="2500"/>
          </a:p>
        </p:txBody>
      </p:sp>
      <p:sp>
        <p:nvSpPr>
          <p:cNvPr id="8" name="sep-2"/>
          <p:cNvSpPr/>
          <p:nvPr/>
        </p:nvSpPr>
        <p:spPr>
          <a:xfrm>
            <a:off x="812800" y="3606800"/>
            <a:ext cx="10566400" cy="12700"/>
          </a:xfrm>
          <a:prstGeom prst="rect">
            <a:avLst/>
          </a:prstGeom>
          <a:solidFill>
            <a:srgbClr val="F3EDE1">
              <a:alpha val="12157"/>
            </a:srgbClr>
          </a:solidFill>
          <a:ln>
            <a:noFill/>
          </a:ln>
        </p:spPr>
      </p:sp>
      <p:sp>
        <p:nvSpPr>
          <p:cNvPr id="9" name="wish-3"/>
          <p:cNvSpPr txBox="1"/>
          <p:nvPr/>
        </p:nvSpPr>
        <p:spPr>
          <a:xfrm>
            <a:off x="812800" y="3835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2500">
                <a:solidFill>
                  <a:srgbClr val="F3EDE1"/>
                </a:solidFill>
                <a:latin typeface="Oranienbaum"/>
                <a:ea typeface="Oranienbaum"/>
              </a:rPr>
              <a:t>— a shop owner got a daily bid brief without learning another portal</a:t>
            </a:r>
            <a:endParaRPr lang="en-US" sz="2500"/>
          </a:p>
        </p:txBody>
      </p:sp>
      <p:sp>
        <p:nvSpPr>
          <p:cNvPr id="10" name="sep-3"/>
          <p:cNvSpPr/>
          <p:nvPr/>
        </p:nvSpPr>
        <p:spPr>
          <a:xfrm>
            <a:off x="812800" y="4445000"/>
            <a:ext cx="10566400" cy="12700"/>
          </a:xfrm>
          <a:prstGeom prst="rect">
            <a:avLst/>
          </a:prstGeom>
          <a:solidFill>
            <a:srgbClr val="F3EDE1">
              <a:alpha val="12157"/>
            </a:srgbClr>
          </a:solidFill>
          <a:ln>
            <a:noFill/>
          </a:ln>
        </p:spPr>
      </p:sp>
      <p:sp>
        <p:nvSpPr>
          <p:cNvPr id="11" name="wish-4"/>
          <p:cNvSpPr txBox="1"/>
          <p:nvPr/>
        </p:nvSpPr>
        <p:spPr>
          <a:xfrm>
            <a:off x="812800" y="4673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2500">
                <a:solidFill>
                  <a:srgbClr val="F3EDE1"/>
                </a:solidFill>
                <a:latin typeface="Oranienbaum"/>
                <a:ea typeface="Oranienbaum"/>
              </a:rPr>
              <a:t>— a good bid/no-bid decision took minutes instead of a lost afternoon</a:t>
            </a:r>
            <a:endParaRPr lang="en-US" sz="2500"/>
          </a:p>
        </p:txBody>
      </p:sp>
      <p:sp>
        <p:nvSpPr>
          <p:cNvPr id="12" name="sep-4"/>
          <p:cNvSpPr/>
          <p:nvPr/>
        </p:nvSpPr>
        <p:spPr>
          <a:xfrm>
            <a:off x="812800" y="5283200"/>
            <a:ext cx="10566400" cy="12700"/>
          </a:xfrm>
          <a:prstGeom prst="rect">
            <a:avLst/>
          </a:prstGeom>
          <a:solidFill>
            <a:srgbClr val="F3EDE1">
              <a:alpha val="12157"/>
            </a:srgbClr>
          </a:solidFill>
          <a:ln>
            <a:noFill/>
          </a:ln>
        </p:spPr>
      </p:sp>
      <p:sp>
        <p:nvSpPr>
          <p:cNvPr id="13" name="footer"/>
          <p:cNvSpPr txBox="1"/>
          <p:nvPr/>
        </p:nvSpPr>
        <p:spPr>
          <a:xfrm>
            <a:off x="812800" y="59182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30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This is not a prompt library. It is the bottleneck, stated plainly.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B87333"/>
                </a:solidFill>
                <a:latin typeface="Liter"/>
                <a:ea typeface="Liter"/>
              </a:rPr>
              <a:t>03 · THE PRODUCT</a:t>
            </a:r>
            <a:endParaRPr lang="en-US" sz="1000"/>
          </a:p>
        </p:txBody>
      </p:sp>
      <p:sp>
        <p:nvSpPr>
          <p:cNvPr id="3" name="top-right"/>
          <p:cNvSpPr txBox="1"/>
          <p:nvPr/>
        </p:nvSpPr>
        <p:spPr>
          <a:xfrm>
            <a:off x="8382000" y="4572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111111">
                    <a:alpha val="40000"/>
                  </a:srgbClr>
                </a:solidFill>
                <a:latin typeface="Liter"/>
                <a:ea typeface="Liter"/>
              </a:rPr>
              <a:t>W&amp;V · WORKSPACEALBERTA</a:t>
            </a:r>
            <a:endParaRPr lang="en-US" sz="1000"/>
          </a:p>
        </p:txBody>
      </p:sp>
      <p:sp>
        <p:nvSpPr>
          <p:cNvPr id="4" name="headline"/>
          <p:cNvSpPr txBox="1"/>
          <p:nvPr/>
        </p:nvSpPr>
        <p:spPr>
          <a:xfrm>
            <a:off x="812800" y="1066800"/>
            <a:ext cx="10566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4000">
                <a:solidFill>
                  <a:srgbClr val="111111"/>
                </a:solidFill>
                <a:latin typeface="Oranienbaum"/>
                <a:ea typeface="Oranienbaum"/>
              </a:rPr>
              <a:t>The custom MCP server is the product.</a:t>
            </a:r>
            <a:endParaRPr lang="en-US" sz="4000"/>
          </a:p>
        </p:txBody>
      </p:sp>
      <p:sp>
        <p:nvSpPr>
          <p:cNvPr id="5" name="body"/>
          <p:cNvSpPr txBox="1"/>
          <p:nvPr/>
        </p:nvSpPr>
        <p:spPr>
          <a:xfrm>
            <a:off x="812800" y="1854200"/>
            <a:ext cx="7366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5F625F"/>
                </a:solidFill>
                <a:latin typeface="Liter"/>
                <a:ea typeface="Liter"/>
              </a:rPr>
              <a:t>A deployed, working endpoint that knows the live public procurement pipeline — CanadaBuys and Alberta Purchasing Connection — and serves it back through any AI assistant, ranked by what you do, where you work, and what deadlines matter. No new portal to babysit.</a:t>
            </a:r>
            <a:endParaRPr lang="en-US" sz="1400"/>
          </a:p>
        </p:txBody>
      </p:sp>
      <p:sp>
        <p:nvSpPr>
          <p:cNvPr id="6" name="chip-src-1"/>
          <p:cNvSpPr/>
          <p:nvPr/>
        </p:nvSpPr>
        <p:spPr>
          <a:xfrm>
            <a:off x="812800" y="3657600"/>
            <a:ext cx="29972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7" name="chip-src-1-label"/>
          <p:cNvSpPr txBox="1"/>
          <p:nvPr/>
        </p:nvSpPr>
        <p:spPr>
          <a:xfrm>
            <a:off x="812800" y="3657600"/>
            <a:ext cx="299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 spc="150" kern="0">
                <a:solidFill>
                  <a:srgbClr val="111111"/>
                </a:solidFill>
                <a:latin typeface="Liter"/>
                <a:ea typeface="Liter"/>
              </a:rPr>
              <a:t>CANADABUYS · FEDERAL</a:t>
            </a:r>
            <a:endParaRPr lang="en-US" sz="1000"/>
          </a:p>
        </p:txBody>
      </p:sp>
      <p:sp>
        <p:nvSpPr>
          <p:cNvPr id="8" name="chip-src-2"/>
          <p:cNvSpPr/>
          <p:nvPr/>
        </p:nvSpPr>
        <p:spPr>
          <a:xfrm>
            <a:off x="812800" y="4470400"/>
            <a:ext cx="29972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9" name="chip-src-2-label"/>
          <p:cNvSpPr txBox="1"/>
          <p:nvPr/>
        </p:nvSpPr>
        <p:spPr>
          <a:xfrm>
            <a:off x="812800" y="4470400"/>
            <a:ext cx="299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50" spc="120" kern="0">
                <a:solidFill>
                  <a:srgbClr val="111111"/>
                </a:solidFill>
                <a:latin typeface="Liter"/>
                <a:ea typeface="Liter"/>
              </a:rPr>
              <a:t>ALBERTA PURCHASING CONNECTION</a:t>
            </a:r>
            <a:endParaRPr lang="en-US" sz="950"/>
          </a:p>
        </p:txBody>
      </p:sp>
      <p:sp>
        <p:nvSpPr>
          <p:cNvPr id="10" name="arrow-1"/>
          <p:cNvSpPr/>
          <p:nvPr>
            <p:extLst>
              <p:ext uri="{F5677B7D-0D2A-4D9B-9A5C-6D8D7D0E5A5D}">
                <pptd:line encoding="base64url">eyJjdXJ2ZSI6InNoYXJwIiwicG9pbnRzIjoiMCwwIDg4LDIwIiwidmlld0JveCI6Wzg4LDIwXX0</pptd:line>
              </p:ext>
            </p:extLst>
          </p:nvPr>
        </p:nvSpPr>
        <p:spPr>
          <a:xfrm>
            <a:off x="3860800" y="3937000"/>
            <a:ext cx="1117600" cy="254000"/>
          </a:xfrm>
          <a:custGeom>
            <a:avLst/>
            <a:gdLst/>
            <a:ahLst/>
            <a:cxnLst/>
            <a:rect l="l" t="t" r="r" b="b"/>
            <a:pathLst>
              <a:path w="88" h="20">
                <a:moveTo>
                  <a:pt x="0" y="0"/>
                </a:moveTo>
                <a:lnTo>
                  <a:pt x="88" y="20"/>
                </a:lnTo>
              </a:path>
            </a:pathLst>
          </a:custGeom>
          <a:noFill/>
          <a:ln w="19050">
            <a:solidFill>
              <a:srgbClr val="B87333"/>
            </a:solidFill>
            <a:tailEnd type="arrow"/>
          </a:ln>
        </p:spPr>
      </p:sp>
      <p:sp>
        <p:nvSpPr>
          <p:cNvPr id="11" name="arrow-2"/>
          <p:cNvSpPr/>
          <p:nvPr>
            <p:extLst>
              <p:ext uri="{F5677B7D-0D2A-4D9B-9A5C-6D8D7D0E5A5D}">
                <pptd:line encoding="base64url">eyJjdXJ2ZSI6InNoYXJwIiwicG9pbnRzIjoiMCwyMCA4OCwwIiwidmlld0JveCI6Wzg4LDIwXX0</pptd:line>
              </p:ext>
            </p:extLst>
          </p:nvPr>
        </p:nvSpPr>
        <p:spPr>
          <a:xfrm>
            <a:off x="3860800" y="4470400"/>
            <a:ext cx="1117600" cy="254000"/>
          </a:xfrm>
          <a:custGeom>
            <a:avLst/>
            <a:gdLst/>
            <a:ahLst/>
            <a:cxnLst/>
            <a:rect l="l" t="t" r="r" b="b"/>
            <a:pathLst>
              <a:path w="88" h="20">
                <a:moveTo>
                  <a:pt x="0" y="20"/>
                </a:moveTo>
                <a:lnTo>
                  <a:pt x="88" y="0"/>
                </a:lnTo>
              </a:path>
            </a:pathLst>
          </a:custGeom>
          <a:noFill/>
          <a:ln w="19050">
            <a:solidFill>
              <a:srgbClr val="B87333"/>
            </a:solidFill>
            <a:tailEnd type="arrow"/>
          </a:ln>
        </p:spPr>
      </p:sp>
      <p:sp>
        <p:nvSpPr>
          <p:cNvPr id="12" name="hub-card"/>
          <p:cNvSpPr/>
          <p:nvPr/>
        </p:nvSpPr>
        <p:spPr>
          <a:xfrm>
            <a:off x="5029200" y="3632200"/>
            <a:ext cx="2844800" cy="139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7333"/>
            </a:solidFill>
          </a:ln>
        </p:spPr>
      </p:sp>
      <p:sp>
        <p:nvSpPr>
          <p:cNvPr id="13" name="hub-label"/>
          <p:cNvSpPr txBox="1"/>
          <p:nvPr/>
        </p:nvSpPr>
        <p:spPr>
          <a:xfrm>
            <a:off x="5029200" y="3911600"/>
            <a:ext cx="2844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000" spc="180" kern="0">
                <a:solidFill>
                  <a:srgbClr val="111111"/>
                </a:solidFill>
                <a:latin typeface="Liter"/>
                <a:ea typeface="Liter"/>
              </a:rPr>
              <a:t>WORKSPACEALBERTA MCP</a:t>
            </a:r>
            <a:endParaRPr lang="en-US" sz="1000"/>
          </a:p>
        </p:txBody>
      </p:sp>
      <p:sp>
        <p:nvSpPr>
          <p:cNvPr id="14" name="hub-big"/>
          <p:cNvSpPr txBox="1"/>
          <p:nvPr/>
        </p:nvSpPr>
        <p:spPr>
          <a:xfrm>
            <a:off x="5029200" y="4191000"/>
            <a:ext cx="2844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rgbClr val="B87333"/>
                </a:solidFill>
                <a:latin typeface="Oranienbaum"/>
                <a:ea typeface="Oranienbaum"/>
              </a:rPr>
              <a:t>21 TOOLS</a:t>
            </a:r>
            <a:endParaRPr lang="en-US" sz="2800"/>
          </a:p>
        </p:txBody>
      </p:sp>
      <p:sp>
        <p:nvSpPr>
          <p:cNvPr id="15" name="arrow-3"/>
          <p:cNvSpPr/>
          <p:nvPr>
            <p:extLst>
              <p:ext uri="{F5677B7D-0D2A-4D9B-9A5C-6D8D7D0E5A5D}">
                <pptd:line encoding="base64url">eyJjdXJ2ZSI6InNoYXJwIiwicG9pbnRzIjoiMCw0IDY0LDQiLCJ2aWV3Qm94IjpbNjQsOF19</pptd:line>
              </p:ext>
            </p:extLst>
          </p:nvPr>
        </p:nvSpPr>
        <p:spPr>
          <a:xfrm>
            <a:off x="7924800" y="4279900"/>
            <a:ext cx="812800" cy="101600"/>
          </a:xfrm>
          <a:custGeom>
            <a:avLst/>
            <a:gdLst/>
            <a:ahLst/>
            <a:cxnLst/>
            <a:rect l="l" t="t" r="r" b="b"/>
            <a:pathLst>
              <a:path w="64" h="8">
                <a:moveTo>
                  <a:pt x="0" y="4"/>
                </a:moveTo>
                <a:lnTo>
                  <a:pt x="64" y="4"/>
                </a:lnTo>
              </a:path>
            </a:pathLst>
          </a:custGeom>
          <a:noFill/>
          <a:ln w="19050">
            <a:solidFill>
              <a:srgbClr val="B87333"/>
            </a:solidFill>
            <a:tailEnd type="arrow"/>
          </a:ln>
        </p:spPr>
      </p:sp>
      <p:sp>
        <p:nvSpPr>
          <p:cNvPr id="16" name="chip-out"/>
          <p:cNvSpPr/>
          <p:nvPr/>
        </p:nvSpPr>
        <p:spPr>
          <a:xfrm>
            <a:off x="8788400" y="3911600"/>
            <a:ext cx="259080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17" name="chip-out-label"/>
          <p:cNvSpPr txBox="1"/>
          <p:nvPr/>
        </p:nvSpPr>
        <p:spPr>
          <a:xfrm>
            <a:off x="8788400" y="4038600"/>
            <a:ext cx="2590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70000"/>
              </a:lnSpc>
            </a:pPr>
            <a:r>
              <a:rPr lang="en-US" sz="1000" spc="150" kern="0">
                <a:solidFill>
                  <a:srgbClr val="111111"/>
                </a:solidFill>
                <a:latin typeface="Liter"/>
                <a:ea typeface="Liter"/>
              </a:rPr>
              <a:t>ANY AI ASSISTANT</a:t>
            </a:r>
            <a:endParaRPr lang="en-US" sz="1000"/>
          </a:p>
          <a:p>
            <a:pPr algn="ctr">
              <a:lnSpc>
                <a:spcPct val="170000"/>
              </a:lnSpc>
            </a:pPr>
            <a:r>
              <a:rPr lang="en-US" sz="1000" spc="150" kern="0">
                <a:solidFill>
                  <a:srgbClr val="5F625F"/>
                </a:solidFill>
                <a:latin typeface="Liter"/>
                <a:ea typeface="Liter"/>
              </a:rPr>
              <a:t>MCP / REST</a:t>
            </a:r>
            <a:endParaRPr lang="en-US" sz="1000"/>
          </a:p>
        </p:txBody>
      </p:sp>
      <p:sp>
        <p:nvSpPr>
          <p:cNvPr id="18" name="caption"/>
          <p:cNvSpPr txBox="1"/>
          <p:nvPr/>
        </p:nvSpPr>
        <p:spPr>
          <a:xfrm>
            <a:off x="812800" y="57912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00" spc="200" kern="0">
                <a:solidFill>
                  <a:srgbClr val="5F625F"/>
                </a:solidFill>
                <a:latin typeface="Liter"/>
                <a:ea typeface="Liter"/>
              </a:rPr>
              <a:t>Pure Python procurement core. The model layer is added only where judgment helps. Same core exposed as REST/OpenAPI.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B87333"/>
                </a:solidFill>
                <a:latin typeface="Liter"/>
                <a:ea typeface="Liter"/>
              </a:rPr>
              <a:t>04 · LIVE TEST · JULY 18, 2026</a:t>
            </a:r>
            <a:endParaRPr lang="en-US" sz="1000"/>
          </a:p>
        </p:txBody>
      </p:sp>
      <p:sp>
        <p:nvSpPr>
          <p:cNvPr id="3" name="top-right"/>
          <p:cNvSpPr txBox="1"/>
          <p:nvPr/>
        </p:nvSpPr>
        <p:spPr>
          <a:xfrm>
            <a:off x="8382000" y="4572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111111">
                    <a:alpha val="40000"/>
                  </a:srgbClr>
                </a:solidFill>
                <a:latin typeface="Liter"/>
                <a:ea typeface="Liter"/>
              </a:rPr>
              <a:t>W&amp;V · WORKSPACEALBERTA</a:t>
            </a:r>
            <a:endParaRPr lang="en-US" sz="1000"/>
          </a:p>
        </p:txBody>
      </p:sp>
      <p:sp>
        <p:nvSpPr>
          <p:cNvPr id="4" name="headline"/>
          <p:cNvSpPr txBox="1"/>
          <p:nvPr/>
        </p:nvSpPr>
        <p:spPr>
          <a:xfrm>
            <a:off x="812800" y="1041400"/>
            <a:ext cx="10566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3600">
                <a:solidFill>
                  <a:srgbClr val="111111"/>
                </a:solidFill>
                <a:latin typeface="Oranienbaum"/>
                <a:ea typeface="Oranienbaum"/>
              </a:rPr>
              <a:t>One sentence about your shop. A ranked tender list in 30 seconds.</a:t>
            </a:r>
            <a:endParaRPr lang="en-US" sz="3600"/>
          </a:p>
        </p:txBody>
      </p:sp>
      <p:sp>
        <p:nvSpPr>
          <p:cNvPr id="5" name="card-in"/>
          <p:cNvSpPr/>
          <p:nvPr/>
        </p:nvSpPr>
        <p:spPr>
          <a:xfrm>
            <a:off x="812800" y="1930400"/>
            <a:ext cx="4572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6" name="card-in-label"/>
          <p:cNvSpPr txBox="1"/>
          <p:nvPr/>
        </p:nvSpPr>
        <p:spPr>
          <a:xfrm>
            <a:off x="1117600" y="2184400"/>
            <a:ext cx="396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THE INPUT — ONE SENTENCE</a:t>
            </a:r>
            <a:endParaRPr lang="en-US" sz="1000"/>
          </a:p>
        </p:txBody>
      </p:sp>
      <p:sp>
        <p:nvSpPr>
          <p:cNvPr id="7" name="card-in-rule"/>
          <p:cNvSpPr/>
          <p:nvPr/>
        </p:nvSpPr>
        <p:spPr>
          <a:xfrm>
            <a:off x="1117600" y="2489200"/>
            <a:ext cx="508000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</p:sp>
      <p:sp>
        <p:nvSpPr>
          <p:cNvPr id="8" name="card-in-quote"/>
          <p:cNvSpPr txBox="1"/>
          <p:nvPr/>
        </p:nvSpPr>
        <p:spPr>
          <a:xfrm>
            <a:off x="1117600" y="2743200"/>
            <a:ext cx="39624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111111"/>
                </a:solidFill>
                <a:latin typeface="Liter"/>
                <a:ea typeface="Liter"/>
              </a:rPr>
              <a:t>"Custom metal fabrication shop: structural steel, stairs, railings, platforms, CWB-certified welding. 12 employees, Edmonton."</a:t>
            </a:r>
            <a:endParaRPr lang="en-US" sz="1500"/>
          </a:p>
        </p:txBody>
      </p:sp>
      <p:sp>
        <p:nvSpPr>
          <p:cNvPr id="9" name="card-in-attr"/>
          <p:cNvSpPr txBox="1"/>
          <p:nvPr/>
        </p:nvSpPr>
        <p:spPr>
          <a:xfrm>
            <a:off x="1117600" y="4876800"/>
            <a:ext cx="396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Ironline Fabrication Ltd. · test persona</a:t>
            </a:r>
            <a:endParaRPr lang="en-US" sz="1000"/>
          </a:p>
        </p:txBody>
      </p:sp>
      <p:sp>
        <p:nvSpPr>
          <p:cNvPr id="10" name="mid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5435600" y="3543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B87333"/>
          </a:solidFill>
          <a:ln>
            <a:noFill/>
          </a:ln>
        </p:spPr>
      </p:sp>
      <p:sp>
        <p:nvSpPr>
          <p:cNvPr id="11" name="card-out"/>
          <p:cNvSpPr/>
          <p:nvPr/>
        </p:nvSpPr>
        <p:spPr>
          <a:xfrm>
            <a:off x="5689600" y="1930400"/>
            <a:ext cx="5689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12" name="card-out-label"/>
          <p:cNvSpPr txBox="1"/>
          <p:nvPr/>
        </p:nvSpPr>
        <p:spPr>
          <a:xfrm>
            <a:off x="5994400" y="2184400"/>
            <a:ext cx="406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THE OUTPUT — RANKED MATCH</a:t>
            </a:r>
            <a:endParaRPr lang="en-US" sz="1000"/>
          </a:p>
        </p:txBody>
      </p:sp>
      <p:sp>
        <p:nvSpPr>
          <p:cNvPr id="13" name="card-out-rule"/>
          <p:cNvSpPr/>
          <p:nvPr/>
        </p:nvSpPr>
        <p:spPr>
          <a:xfrm>
            <a:off x="5994400" y="2489200"/>
            <a:ext cx="508000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</p:sp>
      <p:sp>
        <p:nvSpPr>
          <p:cNvPr id="14" name="score"/>
          <p:cNvSpPr txBox="1"/>
          <p:nvPr/>
        </p:nvSpPr>
        <p:spPr>
          <a:xfrm>
            <a:off x="5994400" y="2641600"/>
            <a:ext cx="152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5600">
                <a:solidFill>
                  <a:srgbClr val="B87333"/>
                </a:solidFill>
                <a:latin typeface="Oranienbaum"/>
                <a:ea typeface="Oranienbaum"/>
              </a:rPr>
              <a:t>91</a:t>
            </a:r>
            <a:endParaRPr lang="en-US" sz="5600"/>
          </a:p>
        </p:txBody>
      </p:sp>
      <p:sp>
        <p:nvSpPr>
          <p:cNvPr id="15" name="score-label"/>
          <p:cNvSpPr txBox="1"/>
          <p:nvPr/>
        </p:nvSpPr>
        <p:spPr>
          <a:xfrm>
            <a:off x="6019800" y="35052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00" spc="200" kern="0">
                <a:solidFill>
                  <a:srgbClr val="5F625F"/>
                </a:solidFill>
                <a:latin typeface="Liter"/>
                <a:ea typeface="Liter"/>
              </a:rPr>
              <a:t>MATCH SCORE</a:t>
            </a:r>
            <a:endParaRPr lang="en-US" sz="900"/>
          </a:p>
        </p:txBody>
      </p:sp>
      <p:sp>
        <p:nvSpPr>
          <p:cNvPr id="16" name="out-org"/>
          <p:cNvSpPr txBox="1"/>
          <p:nvPr/>
        </p:nvSpPr>
        <p:spPr>
          <a:xfrm>
            <a:off x="7772400" y="2641600"/>
            <a:ext cx="330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500">
                <a:solidFill>
                  <a:srgbClr val="111111"/>
                </a:solidFill>
                <a:latin typeface="Liter"/>
                <a:ea typeface="Liter"/>
              </a:rPr>
              <a:t>Alberta Transportation &amp; Economic Corridors — ITB TND0012201</a:t>
            </a:r>
            <a:endParaRPr lang="en-US" sz="1500"/>
          </a:p>
        </p:txBody>
      </p:sp>
      <p:sp>
        <p:nvSpPr>
          <p:cNvPr id="17" name="out-detail"/>
          <p:cNvSpPr txBox="1"/>
          <p:nvPr/>
        </p:nvSpPr>
        <p:spPr>
          <a:xfrm>
            <a:off x="7772400" y="3225800"/>
            <a:ext cx="330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5F625F"/>
                </a:solidFill>
                <a:latin typeface="Liter"/>
                <a:ea typeface="Liter"/>
              </a:rPr>
              <a:t>Structural steel girder bridge · Hwy 2 interchange, Morinville AB</a:t>
            </a:r>
            <a:endParaRPr lang="en-US" sz="1100"/>
          </a:p>
        </p:txBody>
      </p:sp>
      <p:sp>
        <p:nvSpPr>
          <p:cNvPr id="18" name="out-closes"/>
          <p:cNvSpPr txBox="1"/>
          <p:nvPr/>
        </p:nvSpPr>
        <p:spPr>
          <a:xfrm>
            <a:off x="7772400" y="37084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100">
                <a:solidFill>
                  <a:srgbClr val="111111"/>
                </a:solidFill>
                <a:latin typeface="Liter"/>
                <a:ea typeface="Liter"/>
              </a:rPr>
              <a:t>Closes 2026-07-30 · </a:t>
            </a:r>
            <a:r>
              <a:rPr lang="en-US" sz="1100">
                <a:solidFill>
                  <a:srgbClr val="B87333"/>
                </a:solidFill>
                <a:latin typeface="Liter"/>
                <a:ea typeface="Liter"/>
              </a:rPr>
              <a:t>11 days remaining</a:t>
            </a:r>
            <a:endParaRPr lang="en-US" sz="1100"/>
          </a:p>
        </p:txBody>
      </p:sp>
      <p:sp>
        <p:nvSpPr>
          <p:cNvPr id="19" name="out-divider"/>
          <p:cNvSpPr/>
          <p:nvPr/>
        </p:nvSpPr>
        <p:spPr>
          <a:xfrm>
            <a:off x="5994400" y="4140200"/>
            <a:ext cx="5080000" cy="12700"/>
          </a:xfrm>
          <a:prstGeom prst="rect">
            <a:avLst/>
          </a:prstGeom>
          <a:solidFill>
            <a:srgbClr val="111111">
              <a:alpha val="14118"/>
            </a:srgbClr>
          </a:solidFill>
          <a:ln>
            <a:noFill/>
          </a:ln>
        </p:spPr>
      </p:sp>
      <p:sp>
        <p:nvSpPr>
          <p:cNvPr id="20" name="out-why-label"/>
          <p:cNvSpPr txBox="1"/>
          <p:nvPr/>
        </p:nvSpPr>
        <p:spPr>
          <a:xfrm>
            <a:off x="5994400" y="43180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00" spc="200" kern="0">
                <a:solidFill>
                  <a:srgbClr val="5F625F"/>
                </a:solidFill>
                <a:latin typeface="Liter"/>
                <a:ea typeface="Liter"/>
              </a:rPr>
              <a:t>WHY IT MATCHES</a:t>
            </a:r>
            <a:endParaRPr lang="en-US" sz="900"/>
          </a:p>
        </p:txBody>
      </p:sp>
      <p:sp>
        <p:nvSpPr>
          <p:cNvPr id="21" name="out-why"/>
          <p:cNvSpPr txBox="1"/>
          <p:nvPr/>
        </p:nvSpPr>
        <p:spPr>
          <a:xfrm>
            <a:off x="5994400" y="4546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050">
                <a:solidFill>
                  <a:srgbClr val="5F625F"/>
                </a:solidFill>
                <a:latin typeface="Liter"/>
                <a:ea typeface="Liter"/>
              </a:rPr>
              <a:t>steel · structural steel · fabrication · supply · delivers to Alberta</a:t>
            </a:r>
            <a:endParaRPr lang="en-US" sz="1050"/>
          </a:p>
        </p:txBody>
      </p:sp>
      <p:sp>
        <p:nvSpPr>
          <p:cNvPr id="22" name="footer"/>
          <p:cNvSpPr txBox="1"/>
          <p:nvPr/>
        </p:nvSpPr>
        <p:spPr>
          <a:xfrm>
            <a:off x="812800" y="57404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00" spc="200" kern="0">
                <a:solidFill>
                  <a:srgbClr val="5F625F"/>
                </a:solidFill>
                <a:latin typeface="Liter"/>
                <a:ea typeface="Liter"/>
              </a:rPr>
              <a:t>REAL DATA · ALBERTA PURCHASING CONNECTION · REF AB-2026-04073 · RETRIEVED LIVE VIA MCP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B87333"/>
                </a:solidFill>
                <a:latin typeface="Liter"/>
                <a:ea typeface="Liter"/>
              </a:rPr>
              <a:t>05 · THE HABIT</a:t>
            </a:r>
            <a:endParaRPr lang="en-US" sz="1000"/>
          </a:p>
        </p:txBody>
      </p:sp>
      <p:sp>
        <p:nvSpPr>
          <p:cNvPr id="3" name="top-right"/>
          <p:cNvSpPr txBox="1"/>
          <p:nvPr/>
        </p:nvSpPr>
        <p:spPr>
          <a:xfrm>
            <a:off x="8382000" y="4572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111111">
                    <a:alpha val="40000"/>
                  </a:srgbClr>
                </a:solidFill>
                <a:latin typeface="Liter"/>
                <a:ea typeface="Liter"/>
              </a:rPr>
              <a:t>W&amp;V · WORKSPACEALBERTA</a:t>
            </a:r>
            <a:endParaRPr lang="en-US" sz="1000"/>
          </a:p>
        </p:txBody>
      </p:sp>
      <p:sp>
        <p:nvSpPr>
          <p:cNvPr id="4" name="headline"/>
          <p:cNvSpPr txBox="1"/>
          <p:nvPr/>
        </p:nvSpPr>
        <p:spPr>
          <a:xfrm>
            <a:off x="812800" y="10922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4000">
                <a:solidFill>
                  <a:srgbClr val="111111"/>
                </a:solidFill>
                <a:latin typeface="Oranienbaum"/>
                <a:ea typeface="Oranienbaum"/>
              </a:rPr>
              <a:t>The market, before coffee.</a:t>
            </a:r>
            <a:endParaRPr lang="en-US" sz="4000"/>
          </a:p>
        </p:txBody>
      </p:sp>
      <p:sp>
        <p:nvSpPr>
          <p:cNvPr id="5" name="stats-caption"/>
          <p:cNvSpPr txBox="1"/>
          <p:nvPr/>
        </p:nvSpPr>
        <p:spPr>
          <a:xfrm>
            <a:off x="812800" y="20574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00" spc="200" kern="0">
                <a:solidFill>
                  <a:srgbClr val="5F625F"/>
                </a:solidFill>
                <a:latin typeface="Liter"/>
                <a:ea typeface="Liter"/>
              </a:rPr>
              <a:t>LIVE COUNTS · JULY 18, 2026</a:t>
            </a:r>
            <a:endParaRPr lang="en-US" sz="900"/>
          </a:p>
        </p:txBody>
      </p:sp>
      <p:sp>
        <p:nvSpPr>
          <p:cNvPr id="6" name="stat-1"/>
          <p:cNvSpPr txBox="1"/>
          <p:nvPr/>
        </p:nvSpPr>
        <p:spPr>
          <a:xfrm>
            <a:off x="812800" y="2311400"/>
            <a:ext cx="3556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6400">
                <a:solidFill>
                  <a:srgbClr val="111111"/>
                </a:solidFill>
                <a:latin typeface="Oranienbaum"/>
                <a:ea typeface="Oranienbaum"/>
              </a:rPr>
              <a:t>850</a:t>
            </a:r>
            <a:endParaRPr lang="en-US" sz="6400"/>
          </a:p>
        </p:txBody>
      </p:sp>
      <p:sp>
        <p:nvSpPr>
          <p:cNvPr id="7" name="stat-1-label"/>
          <p:cNvSpPr txBox="1"/>
          <p:nvPr/>
        </p:nvSpPr>
        <p:spPr>
          <a:xfrm>
            <a:off x="812800" y="3378200"/>
            <a:ext cx="368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FEDERAL OPEN NOTICES · CANADABUYS</a:t>
            </a:r>
            <a:endParaRPr lang="en-US" sz="1000"/>
          </a:p>
        </p:txBody>
      </p:sp>
      <p:sp>
        <p:nvSpPr>
          <p:cNvPr id="8" name="stat-divider"/>
          <p:cNvSpPr/>
          <p:nvPr/>
        </p:nvSpPr>
        <p:spPr>
          <a:xfrm>
            <a:off x="5029200" y="2387600"/>
            <a:ext cx="12700" cy="1092200"/>
          </a:xfrm>
          <a:prstGeom prst="rect">
            <a:avLst/>
          </a:prstGeom>
          <a:solidFill>
            <a:srgbClr val="111111">
              <a:alpha val="14118"/>
            </a:srgbClr>
          </a:solidFill>
          <a:ln>
            <a:noFill/>
          </a:ln>
        </p:spPr>
      </p:sp>
      <p:sp>
        <p:nvSpPr>
          <p:cNvPr id="9" name="stat-2"/>
          <p:cNvSpPr txBox="1"/>
          <p:nvPr/>
        </p:nvSpPr>
        <p:spPr>
          <a:xfrm>
            <a:off x="5689600" y="2311400"/>
            <a:ext cx="3556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6400">
                <a:solidFill>
                  <a:srgbClr val="111111"/>
                </a:solidFill>
                <a:latin typeface="Oranienbaum"/>
                <a:ea typeface="Oranienbaum"/>
              </a:rPr>
              <a:t>1,523</a:t>
            </a:r>
            <a:endParaRPr lang="en-US" sz="6400"/>
          </a:p>
        </p:txBody>
      </p:sp>
      <p:sp>
        <p:nvSpPr>
          <p:cNvPr id="10" name="stat-2-label"/>
          <p:cNvSpPr txBox="1"/>
          <p:nvPr/>
        </p:nvSpPr>
        <p:spPr>
          <a:xfrm>
            <a:off x="5689600" y="3378200"/>
            <a:ext cx="406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ALBERTA OPEN OPPORTUNITIES · APC</a:t>
            </a:r>
            <a:endParaRPr lang="en-US" sz="1000"/>
          </a:p>
        </p:txBody>
      </p:sp>
      <p:sp>
        <p:nvSpPr>
          <p:cNvPr id="11" name="col-1-rule"/>
          <p:cNvSpPr/>
          <p:nvPr/>
        </p:nvSpPr>
        <p:spPr>
          <a:xfrm>
            <a:off x="812800" y="4216400"/>
            <a:ext cx="406400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</p:sp>
      <p:sp>
        <p:nvSpPr>
          <p:cNvPr id="12" name="col-1-label"/>
          <p:cNvSpPr txBox="1"/>
          <p:nvPr/>
        </p:nvSpPr>
        <p:spPr>
          <a:xfrm>
            <a:off x="812800" y="43942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111111"/>
                </a:solidFill>
                <a:latin typeface="Liter"/>
                <a:ea typeface="Liter"/>
              </a:rPr>
              <a:t>BEST FITS</a:t>
            </a:r>
            <a:endParaRPr lang="en-US" sz="1000"/>
          </a:p>
        </p:txBody>
      </p:sp>
      <p:sp>
        <p:nvSpPr>
          <p:cNvPr id="13" name="col-1-desc"/>
          <p:cNvSpPr txBox="1"/>
          <p:nvPr/>
        </p:nvSpPr>
        <p:spPr>
          <a:xfrm>
            <a:off x="812800" y="4673600"/>
            <a:ext cx="3251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100">
                <a:solidFill>
                  <a:srgbClr val="5F625F"/>
                </a:solidFill>
                <a:latin typeface="Liter"/>
                <a:ea typeface="Liter"/>
              </a:rPr>
              <a:t>Ranked against your profile</a:t>
            </a:r>
            <a:endParaRPr lang="en-US" sz="1100"/>
          </a:p>
        </p:txBody>
      </p:sp>
      <p:sp>
        <p:nvSpPr>
          <p:cNvPr id="14" name="col-2-rule"/>
          <p:cNvSpPr/>
          <p:nvPr/>
        </p:nvSpPr>
        <p:spPr>
          <a:xfrm>
            <a:off x="4470400" y="4216400"/>
            <a:ext cx="406400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</p:sp>
      <p:sp>
        <p:nvSpPr>
          <p:cNvPr id="15" name="col-2-label"/>
          <p:cNvSpPr txBox="1"/>
          <p:nvPr/>
        </p:nvSpPr>
        <p:spPr>
          <a:xfrm>
            <a:off x="4470400" y="43942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111111"/>
                </a:solidFill>
                <a:latin typeface="Liter"/>
                <a:ea typeface="Liter"/>
              </a:rPr>
              <a:t>CLOSING SOON</a:t>
            </a:r>
            <a:endParaRPr lang="en-US" sz="1000"/>
          </a:p>
        </p:txBody>
      </p:sp>
      <p:sp>
        <p:nvSpPr>
          <p:cNvPr id="16" name="col-2-desc"/>
          <p:cNvSpPr txBox="1"/>
          <p:nvPr/>
        </p:nvSpPr>
        <p:spPr>
          <a:xfrm>
            <a:off x="4470400" y="4673600"/>
            <a:ext cx="3251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100">
                <a:solidFill>
                  <a:srgbClr val="5F625F"/>
                </a:solidFill>
                <a:latin typeface="Liter"/>
                <a:ea typeface="Liter"/>
              </a:rPr>
              <a:t>Closing-date countdowns</a:t>
            </a:r>
            <a:endParaRPr lang="en-US" sz="1100"/>
          </a:p>
        </p:txBody>
      </p:sp>
      <p:sp>
        <p:nvSpPr>
          <p:cNvPr id="17" name="col-3-rule"/>
          <p:cNvSpPr/>
          <p:nvPr/>
        </p:nvSpPr>
        <p:spPr>
          <a:xfrm>
            <a:off x="8128000" y="4216400"/>
            <a:ext cx="406400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</p:sp>
      <p:sp>
        <p:nvSpPr>
          <p:cNvPr id="18" name="col-3-label"/>
          <p:cNvSpPr txBox="1"/>
          <p:nvPr/>
        </p:nvSpPr>
        <p:spPr>
          <a:xfrm>
            <a:off x="8128000" y="43942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111111"/>
                </a:solidFill>
                <a:latin typeface="Liter"/>
                <a:ea typeface="Liter"/>
              </a:rPr>
              <a:t>SUGGESTED ACTION</a:t>
            </a:r>
            <a:endParaRPr lang="en-US" sz="1000"/>
          </a:p>
        </p:txBody>
      </p:sp>
      <p:sp>
        <p:nvSpPr>
          <p:cNvPr id="19" name="col-3-desc"/>
          <p:cNvSpPr txBox="1"/>
          <p:nvPr/>
        </p:nvSpPr>
        <p:spPr>
          <a:xfrm>
            <a:off x="8128000" y="4673600"/>
            <a:ext cx="3251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100">
                <a:solidFill>
                  <a:srgbClr val="5F625F"/>
                </a:solidFill>
                <a:latin typeface="Liter"/>
                <a:ea typeface="Liter"/>
              </a:rPr>
              <a:t>The next move, stated plainly</a:t>
            </a:r>
            <a:endParaRPr lang="en-US" sz="1100"/>
          </a:p>
        </p:txBody>
      </p:sp>
      <p:sp>
        <p:nvSpPr>
          <p:cNvPr id="20" name="bottom-line"/>
          <p:cNvSpPr txBox="1"/>
          <p:nvPr/>
        </p:nvSpPr>
        <p:spPr>
          <a:xfrm>
            <a:off x="812800" y="56388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111111"/>
                </a:solidFill>
                <a:latin typeface="Liter"/>
                <a:ea typeface="Liter"/>
              </a:rPr>
              <a:t>The daily bid brief is </a:t>
            </a:r>
            <a:r>
              <a:rPr lang="en-US" sz="1400">
                <a:solidFill>
                  <a:srgbClr val="B87333"/>
                </a:solidFill>
                <a:latin typeface="Liter"/>
                <a:ea typeface="Liter"/>
              </a:rPr>
              <a:t>free. Permanently.</a:t>
            </a:r>
            <a:r>
              <a:rPr lang="en-US" sz="1400">
                <a:solidFill>
                  <a:srgbClr val="111111"/>
                </a:solidFill>
                <a:latin typeface="Liter"/>
                <a:ea typeface="Liter"/>
              </a:rPr>
              <a:t> The habit stays free while it forms — and after.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B87333"/>
                </a:solidFill>
                <a:latin typeface="Liter"/>
                <a:ea typeface="Liter"/>
              </a:rPr>
              <a:t>06 · THE DETAILS THAT DECIDE</a:t>
            </a:r>
            <a:endParaRPr lang="en-US" sz="1000"/>
          </a:p>
        </p:txBody>
      </p:sp>
      <p:sp>
        <p:nvSpPr>
          <p:cNvPr id="3" name="top-right"/>
          <p:cNvSpPr txBox="1"/>
          <p:nvPr/>
        </p:nvSpPr>
        <p:spPr>
          <a:xfrm>
            <a:off x="8382000" y="4572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111111">
                    <a:alpha val="40000"/>
                  </a:srgbClr>
                </a:solidFill>
                <a:latin typeface="Liter"/>
                <a:ea typeface="Liter"/>
              </a:rPr>
              <a:t>W&amp;V · WORKSPACEALBERTA</a:t>
            </a:r>
            <a:endParaRPr lang="en-US" sz="1000"/>
          </a:p>
        </p:txBody>
      </p:sp>
      <p:sp>
        <p:nvSpPr>
          <p:cNvPr id="4" name="headline"/>
          <p:cNvSpPr txBox="1"/>
          <p:nvPr/>
        </p:nvSpPr>
        <p:spPr>
          <a:xfrm>
            <a:off x="812800" y="1041400"/>
            <a:ext cx="10566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3600">
                <a:solidFill>
                  <a:srgbClr val="111111"/>
                </a:solidFill>
                <a:latin typeface="Oranienbaum"/>
                <a:ea typeface="Oranienbaum"/>
              </a:rPr>
              <a:t>The three numbers that matter, out of the 140-page RFP.</a:t>
            </a:r>
            <a:endParaRPr lang="en-US" sz="3600"/>
          </a:p>
        </p:txBody>
      </p:sp>
      <p:sp>
        <p:nvSpPr>
          <p:cNvPr id="5" name="card"/>
          <p:cNvSpPr/>
          <p:nvPr/>
        </p:nvSpPr>
        <p:spPr>
          <a:xfrm>
            <a:off x="812800" y="1905000"/>
            <a:ext cx="10566400" cy="363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6" name="card-label"/>
          <p:cNvSpPr txBox="1"/>
          <p:nvPr/>
        </p:nvSpPr>
        <p:spPr>
          <a:xfrm>
            <a:off x="1117600" y="2133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00" spc="200" kern="0">
                <a:solidFill>
                  <a:srgbClr val="B87333"/>
                </a:solidFill>
                <a:latin typeface="Liter"/>
                <a:ea typeface="Liter"/>
              </a:rPr>
              <a:t>ARTIFACT · TENDER AB-2026-04073</a:t>
            </a:r>
            <a:endParaRPr lang="en-US" sz="900"/>
          </a:p>
        </p:txBody>
      </p:sp>
      <p:sp>
        <p:nvSpPr>
          <p:cNvPr id="7" name="fact-1-label"/>
          <p:cNvSpPr txBox="1"/>
          <p:nvPr/>
        </p:nvSpPr>
        <p:spPr>
          <a:xfrm>
            <a:off x="1117600" y="2540000"/>
            <a:ext cx="457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MANDATORY</a:t>
            </a:r>
            <a:endParaRPr lang="en-US" sz="1000"/>
          </a:p>
        </p:txBody>
      </p:sp>
      <p:sp>
        <p:nvSpPr>
          <p:cNvPr id="8" name="fact-1-value"/>
          <p:cNvSpPr txBox="1"/>
          <p:nvPr/>
        </p:nvSpPr>
        <p:spPr>
          <a:xfrm>
            <a:off x="1117600" y="2743200"/>
            <a:ext cx="457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300">
                <a:solidFill>
                  <a:srgbClr val="111111"/>
                </a:solidFill>
                <a:latin typeface="Liter"/>
                <a:ea typeface="Liter"/>
              </a:rPr>
              <a:t>Certificate of Recognition (CoR)</a:t>
            </a:r>
            <a:endParaRPr lang="en-US" sz="1300"/>
          </a:p>
        </p:txBody>
      </p:sp>
      <p:sp>
        <p:nvSpPr>
          <p:cNvPr id="9" name="fact-2-label"/>
          <p:cNvSpPr txBox="1"/>
          <p:nvPr/>
        </p:nvSpPr>
        <p:spPr>
          <a:xfrm>
            <a:off x="6299200" y="2540000"/>
            <a:ext cx="47752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BID BOND</a:t>
            </a:r>
            <a:endParaRPr lang="en-US" sz="1000"/>
          </a:p>
        </p:txBody>
      </p:sp>
      <p:sp>
        <p:nvSpPr>
          <p:cNvPr id="10" name="fact-2-value"/>
          <p:cNvSpPr txBox="1"/>
          <p:nvPr/>
        </p:nvSpPr>
        <p:spPr>
          <a:xfrm>
            <a:off x="6299200" y="2743200"/>
            <a:ext cx="4775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300">
                <a:solidFill>
                  <a:srgbClr val="111111"/>
                </a:solidFill>
                <a:latin typeface="Liter"/>
                <a:ea typeface="Liter"/>
              </a:rPr>
              <a:t>Digital format, required with every tender</a:t>
            </a:r>
            <a:endParaRPr lang="en-US" sz="1300"/>
          </a:p>
        </p:txBody>
      </p:sp>
      <p:sp>
        <p:nvSpPr>
          <p:cNvPr id="11" name="fact-3-label"/>
          <p:cNvSpPr txBox="1"/>
          <p:nvPr/>
        </p:nvSpPr>
        <p:spPr>
          <a:xfrm>
            <a:off x="1117600" y="3530600"/>
            <a:ext cx="457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SUBMISSION</a:t>
            </a:r>
            <a:endParaRPr lang="en-US" sz="1000"/>
          </a:p>
        </p:txBody>
      </p:sp>
      <p:sp>
        <p:nvSpPr>
          <p:cNvPr id="12" name="fact-3-value"/>
          <p:cNvSpPr txBox="1"/>
          <p:nvPr/>
        </p:nvSpPr>
        <p:spPr>
          <a:xfrm>
            <a:off x="1117600" y="3733800"/>
            <a:ext cx="457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300">
                <a:solidFill>
                  <a:srgbClr val="111111"/>
                </a:solidFill>
                <a:latin typeface="Liter"/>
                <a:ea typeface="Liter"/>
              </a:rPr>
              <a:t>Email only — hard copy refused</a:t>
            </a:r>
            <a:endParaRPr lang="en-US" sz="1300"/>
          </a:p>
        </p:txBody>
      </p:sp>
      <p:sp>
        <p:nvSpPr>
          <p:cNvPr id="13" name="fact-4-label"/>
          <p:cNvSpPr txBox="1"/>
          <p:nvPr/>
        </p:nvSpPr>
        <p:spPr>
          <a:xfrm>
            <a:off x="6299200" y="3530600"/>
            <a:ext cx="47752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PRE-TENDER MEETING</a:t>
            </a:r>
            <a:endParaRPr lang="en-US" sz="1000"/>
          </a:p>
        </p:txBody>
      </p:sp>
      <p:sp>
        <p:nvSpPr>
          <p:cNvPr id="14" name="fact-4-value"/>
          <p:cNvSpPr txBox="1"/>
          <p:nvPr/>
        </p:nvSpPr>
        <p:spPr>
          <a:xfrm>
            <a:off x="6299200" y="3733800"/>
            <a:ext cx="4775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300">
                <a:solidFill>
                  <a:srgbClr val="111111"/>
                </a:solidFill>
                <a:latin typeface="Liter"/>
                <a:ea typeface="Liter"/>
              </a:rPr>
              <a:t>June 10, 2026 · MS Teams</a:t>
            </a:r>
            <a:endParaRPr lang="en-US" sz="1300"/>
          </a:p>
        </p:txBody>
      </p:sp>
      <p:sp>
        <p:nvSpPr>
          <p:cNvPr id="15" name="fact-5-label"/>
          <p:cNvSpPr txBox="1"/>
          <p:nvPr/>
        </p:nvSpPr>
        <p:spPr>
          <a:xfrm>
            <a:off x="1117600" y="4521200"/>
            <a:ext cx="457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CONTACT</a:t>
            </a:r>
            <a:endParaRPr lang="en-US" sz="1000"/>
          </a:p>
        </p:txBody>
      </p:sp>
      <p:sp>
        <p:nvSpPr>
          <p:cNvPr id="16" name="fact-5-value"/>
          <p:cNvSpPr txBox="1"/>
          <p:nvPr/>
        </p:nvSpPr>
        <p:spPr>
          <a:xfrm>
            <a:off x="1117600" y="4724400"/>
            <a:ext cx="457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300">
                <a:solidFill>
                  <a:srgbClr val="111111"/>
                </a:solidFill>
                <a:latin typeface="Liter"/>
                <a:ea typeface="Liter"/>
              </a:rPr>
              <a:t>Named procurement officer, gov.ab.ca</a:t>
            </a:r>
            <a:endParaRPr lang="en-US" sz="1300"/>
          </a:p>
        </p:txBody>
      </p:sp>
      <p:sp>
        <p:nvSpPr>
          <p:cNvPr id="17" name="fact-6-label"/>
          <p:cNvSpPr txBox="1"/>
          <p:nvPr/>
        </p:nvSpPr>
        <p:spPr>
          <a:xfrm>
            <a:off x="6299200" y="4521200"/>
            <a:ext cx="47752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SCALE</a:t>
            </a:r>
            <a:endParaRPr lang="en-US" sz="1000"/>
          </a:p>
        </p:txBody>
      </p:sp>
      <p:sp>
        <p:nvSpPr>
          <p:cNvPr id="18" name="fact-6-value"/>
          <p:cNvSpPr txBox="1"/>
          <p:nvPr/>
        </p:nvSpPr>
        <p:spPr>
          <a:xfrm>
            <a:off x="6299200" y="4724400"/>
            <a:ext cx="4775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300">
                <a:solidFill>
                  <a:srgbClr val="111111"/>
                </a:solidFill>
                <a:latin typeface="Liter"/>
                <a:ea typeface="Liter"/>
              </a:rPr>
              <a:t>279,400 m³ excavation · 57,000 t asphalt · HP 310×110 steel piling</a:t>
            </a:r>
            <a:endParaRPr lang="en-US" sz="1300"/>
          </a:p>
        </p:txBody>
      </p:sp>
      <p:sp>
        <p:nvSpPr>
          <p:cNvPr id="19" name="footer"/>
          <p:cNvSpPr txBox="1"/>
          <p:nvPr/>
        </p:nvSpPr>
        <p:spPr>
          <a:xfrm>
            <a:off x="812800" y="57404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00" spc="200" kern="0">
                <a:solidFill>
                  <a:srgbClr val="5F625F"/>
                </a:solidFill>
                <a:latin typeface="Liter"/>
                <a:ea typeface="Liter"/>
              </a:rPr>
              <a:t>GET_OPPORTUNITY_DETAILS · VERBATIM TOOL OUTPUT · REF AB-2026-04073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0A0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D9A441"/>
                </a:solidFill>
                <a:latin typeface="Liter"/>
                <a:ea typeface="Liter"/>
              </a:rPr>
              <a:t>07 · FREE BRIEF, PAID BID WORK</a:t>
            </a:r>
            <a:endParaRPr lang="en-US" sz="1000"/>
          </a:p>
        </p:txBody>
      </p:sp>
      <p:sp>
        <p:nvSpPr>
          <p:cNvPr id="3" name="top-right"/>
          <p:cNvSpPr txBox="1"/>
          <p:nvPr/>
        </p:nvSpPr>
        <p:spPr>
          <a:xfrm>
            <a:off x="8382000" y="4572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W&amp;V · WORKSPACEALBERTA</a:t>
            </a:r>
            <a:endParaRPr lang="en-US" sz="1000"/>
          </a:p>
        </p:txBody>
      </p:sp>
      <p:sp>
        <p:nvSpPr>
          <p:cNvPr id="4" name="headline"/>
          <p:cNvSpPr txBox="1"/>
          <p:nvPr/>
        </p:nvSpPr>
        <p:spPr>
          <a:xfrm>
            <a:off x="812800" y="1066800"/>
            <a:ext cx="10566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4000">
                <a:solidFill>
                  <a:srgbClr val="F3EDE1"/>
                </a:solidFill>
                <a:latin typeface="Oranienbaum"/>
                <a:ea typeface="Oranienbaum"/>
              </a:rPr>
              <a:t>Free to look. </a:t>
            </a:r>
            <a:r>
              <a:rPr lang="en-US" sz="4000">
                <a:solidFill>
                  <a:srgbClr val="D9A441"/>
                </a:solidFill>
                <a:latin typeface="Oranienbaum"/>
                <a:ea typeface="Oranienbaum"/>
              </a:rPr>
              <a:t>$85/month</a:t>
            </a:r>
            <a:r>
              <a:rPr lang="en-US" sz="4000">
                <a:solidFill>
                  <a:srgbClr val="F3EDE1"/>
                </a:solidFill>
                <a:latin typeface="Oranienbaum"/>
                <a:ea typeface="Oranienbaum"/>
              </a:rPr>
              <a:t> to bid.</a:t>
            </a:r>
            <a:endParaRPr lang="en-US" sz="4000"/>
          </a:p>
        </p:txBody>
      </p:sp>
      <p:sp>
        <p:nvSpPr>
          <p:cNvPr id="5" name="panel-free"/>
          <p:cNvSpPr/>
          <p:nvPr/>
        </p:nvSpPr>
        <p:spPr>
          <a:xfrm>
            <a:off x="812800" y="1930400"/>
            <a:ext cx="5080000" cy="2946400"/>
          </a:xfrm>
          <a:prstGeom prst="rect">
            <a:avLst/>
          </a:prstGeom>
          <a:solidFill>
            <a:srgbClr val="100C09"/>
          </a:solidFill>
          <a:ln w="12700">
            <a:solidFill>
              <a:srgbClr val="F3EDE1">
                <a:alpha val="21961"/>
              </a:srgbClr>
            </a:solidFill>
          </a:ln>
        </p:spPr>
      </p:sp>
      <p:sp>
        <p:nvSpPr>
          <p:cNvPr id="6" name="free-header"/>
          <p:cNvSpPr txBox="1"/>
          <p:nvPr/>
        </p:nvSpPr>
        <p:spPr>
          <a:xfrm>
            <a:off x="1117600" y="2184400"/>
            <a:ext cx="447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F3EDE1"/>
                </a:solidFill>
                <a:latin typeface="Liter"/>
                <a:ea typeface="Liter"/>
              </a:rPr>
              <a:t>FREE FOREVER</a:t>
            </a:r>
            <a:endParaRPr lang="en-US" sz="1000"/>
          </a:p>
        </p:txBody>
      </p:sp>
      <p:sp>
        <p:nvSpPr>
          <p:cNvPr id="7" name="free-rule"/>
          <p:cNvSpPr/>
          <p:nvPr/>
        </p:nvSpPr>
        <p:spPr>
          <a:xfrm>
            <a:off x="1117600" y="2514600"/>
            <a:ext cx="4470400" cy="12700"/>
          </a:xfrm>
          <a:prstGeom prst="rect">
            <a:avLst/>
          </a:prstGeom>
          <a:solidFill>
            <a:srgbClr val="F3EDE1">
              <a:alpha val="12157"/>
            </a:srgbClr>
          </a:solidFill>
          <a:ln>
            <a:noFill/>
          </a:ln>
        </p:spPr>
      </p:sp>
      <p:sp>
        <p:nvSpPr>
          <p:cNvPr id="8" name="free-items"/>
          <p:cNvSpPr txBox="1"/>
          <p:nvPr/>
        </p:nvSpPr>
        <p:spPr>
          <a:xfrm>
            <a:off x="1117600" y="2717800"/>
            <a:ext cx="44704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30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—</a:t>
            </a:r>
            <a:r>
              <a:rPr lang="en-US" sz="130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  Search both governments in one question</a:t>
            </a:r>
            <a:endParaRPr lang="en-US" sz="130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30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—</a:t>
            </a:r>
            <a:r>
              <a:rPr lang="en-US" sz="130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  Daily bid brief</a:t>
            </a:r>
            <a:endParaRPr lang="en-US" sz="130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30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—</a:t>
            </a:r>
            <a:r>
              <a:rPr lang="en-US" sz="130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  Full tender details</a:t>
            </a:r>
            <a:endParaRPr lang="en-US" sz="130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30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—</a:t>
            </a:r>
            <a:r>
              <a:rPr lang="en-US" sz="130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  Closing-soon deadlines</a:t>
            </a:r>
            <a:endParaRPr lang="en-US" sz="1300"/>
          </a:p>
        </p:txBody>
      </p:sp>
      <p:sp>
        <p:nvSpPr>
          <p:cNvPr id="9" name="panel-pro"/>
          <p:cNvSpPr/>
          <p:nvPr/>
        </p:nvSpPr>
        <p:spPr>
          <a:xfrm>
            <a:off x="6299200" y="1930400"/>
            <a:ext cx="5080000" cy="2946400"/>
          </a:xfrm>
          <a:prstGeom prst="rect">
            <a:avLst/>
          </a:prstGeom>
          <a:solidFill>
            <a:srgbClr val="100C09"/>
          </a:solidFill>
          <a:ln w="12700">
            <a:solidFill>
              <a:srgbClr val="D9A441"/>
            </a:solidFill>
          </a:ln>
        </p:spPr>
      </p:sp>
      <p:sp>
        <p:nvSpPr>
          <p:cNvPr id="10" name="pro-header"/>
          <p:cNvSpPr txBox="1"/>
          <p:nvPr/>
        </p:nvSpPr>
        <p:spPr>
          <a:xfrm>
            <a:off x="6604000" y="2184400"/>
            <a:ext cx="447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D9A441"/>
                </a:solidFill>
                <a:latin typeface="Liter"/>
                <a:ea typeface="Liter"/>
              </a:rPr>
              <a:t>PRO · $85 CAD/MONTH</a:t>
            </a:r>
            <a:endParaRPr lang="en-US" sz="1000"/>
          </a:p>
        </p:txBody>
      </p:sp>
      <p:sp>
        <p:nvSpPr>
          <p:cNvPr id="11" name="pro-rule"/>
          <p:cNvSpPr/>
          <p:nvPr/>
        </p:nvSpPr>
        <p:spPr>
          <a:xfrm>
            <a:off x="6604000" y="2514600"/>
            <a:ext cx="4470400" cy="12700"/>
          </a:xfrm>
          <a:prstGeom prst="rect">
            <a:avLst/>
          </a:prstGeom>
          <a:solidFill>
            <a:srgbClr val="D9A441">
              <a:alpha val="33333"/>
            </a:srgbClr>
          </a:solidFill>
          <a:ln>
            <a:noFill/>
          </a:ln>
        </p:spPr>
      </p:sp>
      <p:sp>
        <p:nvSpPr>
          <p:cNvPr id="12" name="pro-items"/>
          <p:cNvSpPr txBox="1"/>
          <p:nvPr/>
        </p:nvSpPr>
        <p:spPr>
          <a:xfrm>
            <a:off x="6604000" y="2717800"/>
            <a:ext cx="4470400" cy="198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250">
                <a:solidFill>
                  <a:srgbClr val="D9A441"/>
                </a:solidFill>
                <a:latin typeface="Liter"/>
                <a:ea typeface="Liter"/>
              </a:rPr>
              <a:t>+</a:t>
            </a:r>
            <a:r>
              <a:rPr lang="en-US" sz="125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  Bid rooms: sandboxed E2B analysis of full tender packages</a:t>
            </a:r>
            <a:endParaRPr lang="en-US" sz="1250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250">
                <a:solidFill>
                  <a:srgbClr val="D9A441"/>
                </a:solidFill>
                <a:latin typeface="Liter"/>
                <a:ea typeface="Liter"/>
              </a:rPr>
              <a:t>+</a:t>
            </a:r>
            <a:r>
              <a:rPr lang="en-US" sz="125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  Cohere Command A+ review: risks, requirements, fit score</a:t>
            </a:r>
            <a:endParaRPr lang="en-US" sz="1250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250">
                <a:solidFill>
                  <a:srgbClr val="D9A441"/>
                </a:solidFill>
                <a:latin typeface="Liter"/>
                <a:ea typeface="Liter"/>
              </a:rPr>
              <a:t>+</a:t>
            </a:r>
            <a:r>
              <a:rPr lang="en-US" sz="125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  Watchlist with closing-date countdowns</a:t>
            </a:r>
            <a:endParaRPr lang="en-US" sz="1250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250">
                <a:solidFill>
                  <a:srgbClr val="D9A441"/>
                </a:solidFill>
                <a:latin typeface="Liter"/>
                <a:ea typeface="Liter"/>
              </a:rPr>
              <a:t>+</a:t>
            </a:r>
            <a:r>
              <a:rPr lang="en-US" sz="125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  Bid/no-bid scorecards on demand</a:t>
            </a:r>
            <a:endParaRPr lang="en-US" sz="1250"/>
          </a:p>
        </p:txBody>
      </p:sp>
      <p:sp>
        <p:nvSpPr>
          <p:cNvPr id="13" name="paywall-panel"/>
          <p:cNvSpPr/>
          <p:nvPr/>
        </p:nvSpPr>
        <p:spPr>
          <a:xfrm>
            <a:off x="812800" y="5130800"/>
            <a:ext cx="10566400" cy="965200"/>
          </a:xfrm>
          <a:prstGeom prst="rect">
            <a:avLst/>
          </a:prstGeom>
          <a:solidFill>
            <a:srgbClr val="100C09"/>
          </a:solidFill>
          <a:ln w="12700">
            <a:solidFill>
              <a:srgbClr val="F3EDE1">
                <a:alpha val="21961"/>
              </a:srgbClr>
            </a:solidFill>
          </a:ln>
        </p:spPr>
      </p:sp>
      <p:sp>
        <p:nvSpPr>
          <p:cNvPr id="14" name="paywall-quote"/>
          <p:cNvSpPr txBox="1"/>
          <p:nvPr/>
        </p:nvSpPr>
        <p:spPr>
          <a:xfrm>
            <a:off x="1117600" y="5334000"/>
            <a:ext cx="812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200" i="1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"WorkspaceAlberta Pro required. A WorkspaceAlberta Pro API key is required for this tool."</a:t>
            </a:r>
            <a:endParaRPr lang="en-US" sz="1200"/>
          </a:p>
        </p:txBody>
      </p:sp>
      <p:sp>
        <p:nvSpPr>
          <p:cNvPr id="15" name="paywall-caption"/>
          <p:cNvSpPr txBox="1"/>
          <p:nvPr/>
        </p:nvSpPr>
        <p:spPr>
          <a:xfrm>
            <a:off x="1117600" y="5715000"/>
            <a:ext cx="965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00" spc="150" kern="0">
                <a:solidFill>
                  <a:srgbClr val="D9A441"/>
                </a:solidFill>
                <a:latin typeface="Liter"/>
                <a:ea typeface="Liter"/>
              </a:rPr>
              <a:t>THE ACTUAL PAYWALL, VERBATIM · THE METER STARTS AT THE MOMENT OF INTENT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B87333"/>
                </a:solidFill>
                <a:latin typeface="Liter"/>
                <a:ea typeface="Liter"/>
              </a:rPr>
              <a:t>08 · TESTED, NOT PROMISED</a:t>
            </a:r>
            <a:endParaRPr lang="en-US" sz="1000"/>
          </a:p>
        </p:txBody>
      </p:sp>
      <p:sp>
        <p:nvSpPr>
          <p:cNvPr id="3" name="top-right"/>
          <p:cNvSpPr txBox="1"/>
          <p:nvPr/>
        </p:nvSpPr>
        <p:spPr>
          <a:xfrm>
            <a:off x="8382000" y="4572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111111">
                    <a:alpha val="40000"/>
                  </a:srgbClr>
                </a:solidFill>
                <a:latin typeface="Liter"/>
                <a:ea typeface="Liter"/>
              </a:rPr>
              <a:t>W&amp;V · WORKSPACEALBERTA</a:t>
            </a:r>
            <a:endParaRPr lang="en-US" sz="1000"/>
          </a:p>
        </p:txBody>
      </p:sp>
      <p:sp>
        <p:nvSpPr>
          <p:cNvPr id="4" name="headline"/>
          <p:cNvSpPr txBox="1"/>
          <p:nvPr/>
        </p:nvSpPr>
        <p:spPr>
          <a:xfrm>
            <a:off x="812800" y="1041400"/>
            <a:ext cx="10566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3600">
                <a:solidFill>
                  <a:srgbClr val="111111"/>
                </a:solidFill>
                <a:latin typeface="Oranienbaum"/>
                <a:ea typeface="Oranienbaum"/>
              </a:rPr>
              <a:t>We ran the user tests before we made this deck.</a:t>
            </a:r>
            <a:endParaRPr lang="en-US" sz="3600"/>
          </a:p>
        </p:txBody>
      </p:sp>
      <p:sp>
        <p:nvSpPr>
          <p:cNvPr id="5" name="hair-top"/>
          <p:cNvSpPr/>
          <p:nvPr/>
        </p:nvSpPr>
        <p:spPr>
          <a:xfrm>
            <a:off x="812800" y="2108200"/>
            <a:ext cx="10566400" cy="12700"/>
          </a:xfrm>
          <a:prstGeom prst="rect">
            <a:avLst/>
          </a:prstGeom>
          <a:solidFill>
            <a:srgbClr val="111111">
              <a:alpha val="14118"/>
            </a:srgbClr>
          </a:solidFill>
          <a:ln>
            <a:noFill/>
          </a:ln>
        </p:spPr>
      </p:sp>
      <p:sp>
        <p:nvSpPr>
          <p:cNvPr id="6" name="stat-1"/>
          <p:cNvSpPr txBox="1"/>
          <p:nvPr/>
        </p:nvSpPr>
        <p:spPr>
          <a:xfrm>
            <a:off x="812800" y="2336800"/>
            <a:ext cx="3251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4400">
                <a:solidFill>
                  <a:srgbClr val="111111"/>
                </a:solidFill>
                <a:latin typeface="Oranienbaum"/>
                <a:ea typeface="Oranienbaum"/>
              </a:rPr>
              <a:t>5.4 s</a:t>
            </a:r>
            <a:endParaRPr lang="en-US" sz="4400"/>
          </a:p>
        </p:txBody>
      </p:sp>
      <p:sp>
        <p:nvSpPr>
          <p:cNvPr id="7" name="stat-1-label"/>
          <p:cNvSpPr txBox="1"/>
          <p:nvPr/>
        </p:nvSpPr>
        <p:spPr>
          <a:xfrm>
            <a:off x="812800" y="3124200"/>
            <a:ext cx="325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FRESH CLONE</a:t>
            </a:r>
            <a:endParaRPr lang="en-US" sz="1000"/>
          </a:p>
        </p:txBody>
      </p:sp>
      <p:sp>
        <p:nvSpPr>
          <p:cNvPr id="8" name="stat-2"/>
          <p:cNvSpPr txBox="1"/>
          <p:nvPr/>
        </p:nvSpPr>
        <p:spPr>
          <a:xfrm>
            <a:off x="4470400" y="2336800"/>
            <a:ext cx="3251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4400">
                <a:solidFill>
                  <a:srgbClr val="111111"/>
                </a:solidFill>
                <a:latin typeface="Oranienbaum"/>
                <a:ea typeface="Oranienbaum"/>
              </a:rPr>
              <a:t>49 s</a:t>
            </a:r>
            <a:endParaRPr lang="en-US" sz="4400"/>
          </a:p>
        </p:txBody>
      </p:sp>
      <p:sp>
        <p:nvSpPr>
          <p:cNvPr id="9" name="stat-2-label"/>
          <p:cNvSpPr txBox="1"/>
          <p:nvPr/>
        </p:nvSpPr>
        <p:spPr>
          <a:xfrm>
            <a:off x="4470400" y="3124200"/>
            <a:ext cx="325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DEPENDENCY INSTALL · CLEAN ON WINDOWS</a:t>
            </a:r>
            <a:endParaRPr lang="en-US" sz="1000"/>
          </a:p>
        </p:txBody>
      </p:sp>
      <p:sp>
        <p:nvSpPr>
          <p:cNvPr id="10" name="stat-3"/>
          <p:cNvSpPr txBox="1"/>
          <p:nvPr/>
        </p:nvSpPr>
        <p:spPr>
          <a:xfrm>
            <a:off x="8128000" y="2336800"/>
            <a:ext cx="3251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4400">
                <a:solidFill>
                  <a:srgbClr val="111111"/>
                </a:solidFill>
                <a:latin typeface="Oranienbaum"/>
                <a:ea typeface="Oranienbaum"/>
              </a:rPr>
              <a:t>7/7</a:t>
            </a:r>
            <a:endParaRPr lang="en-US" sz="4400"/>
          </a:p>
        </p:txBody>
      </p:sp>
      <p:sp>
        <p:nvSpPr>
          <p:cNvPr id="11" name="stat-3-label"/>
          <p:cNvSpPr txBox="1"/>
          <p:nvPr/>
        </p:nvSpPr>
        <p:spPr>
          <a:xfrm>
            <a:off x="8128000" y="3124200"/>
            <a:ext cx="325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SMOKE TESTS PASSING</a:t>
            </a:r>
            <a:endParaRPr lang="en-US" sz="1000"/>
          </a:p>
        </p:txBody>
      </p:sp>
      <p:sp>
        <p:nvSpPr>
          <p:cNvPr id="12" name="hair-mid"/>
          <p:cNvSpPr/>
          <p:nvPr/>
        </p:nvSpPr>
        <p:spPr>
          <a:xfrm>
            <a:off x="812800" y="3606800"/>
            <a:ext cx="10566400" cy="12700"/>
          </a:xfrm>
          <a:prstGeom prst="rect">
            <a:avLst/>
          </a:prstGeom>
          <a:solidFill>
            <a:srgbClr val="111111">
              <a:alpha val="14118"/>
            </a:srgbClr>
          </a:solidFill>
          <a:ln>
            <a:noFill/>
          </a:ln>
        </p:spPr>
      </p:sp>
      <p:sp>
        <p:nvSpPr>
          <p:cNvPr id="13" name="stat-4"/>
          <p:cNvSpPr txBox="1"/>
          <p:nvPr/>
        </p:nvSpPr>
        <p:spPr>
          <a:xfrm>
            <a:off x="812800" y="3835400"/>
            <a:ext cx="3251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4400">
                <a:solidFill>
                  <a:srgbClr val="111111"/>
                </a:solidFill>
                <a:latin typeface="Oranienbaum"/>
                <a:ea typeface="Oranienbaum"/>
              </a:rPr>
              <a:t>21</a:t>
            </a:r>
            <a:endParaRPr lang="en-US" sz="4400"/>
          </a:p>
        </p:txBody>
      </p:sp>
      <p:sp>
        <p:nvSpPr>
          <p:cNvPr id="14" name="stat-4-label"/>
          <p:cNvSpPr txBox="1"/>
          <p:nvPr/>
        </p:nvSpPr>
        <p:spPr>
          <a:xfrm>
            <a:off x="812800" y="4622800"/>
            <a:ext cx="325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MCP TOOLS LIVE</a:t>
            </a:r>
            <a:endParaRPr lang="en-US" sz="1000"/>
          </a:p>
        </p:txBody>
      </p:sp>
      <p:sp>
        <p:nvSpPr>
          <p:cNvPr id="15" name="stat-5"/>
          <p:cNvSpPr txBox="1"/>
          <p:nvPr/>
        </p:nvSpPr>
        <p:spPr>
          <a:xfrm>
            <a:off x="4470400" y="3835400"/>
            <a:ext cx="3251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4400">
                <a:solidFill>
                  <a:srgbClr val="111111"/>
                </a:solidFill>
                <a:latin typeface="Oranienbaum"/>
                <a:ea typeface="Oranienbaum"/>
              </a:rPr>
              <a:t>~2 s</a:t>
            </a:r>
            <a:endParaRPr lang="en-US" sz="4400"/>
          </a:p>
        </p:txBody>
      </p:sp>
      <p:sp>
        <p:nvSpPr>
          <p:cNvPr id="16" name="stat-5-label"/>
          <p:cNvSpPr txBox="1"/>
          <p:nvPr/>
        </p:nvSpPr>
        <p:spPr>
          <a:xfrm>
            <a:off x="4470400" y="4622800"/>
            <a:ext cx="325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FIRST LIVE SEARCH</a:t>
            </a:r>
            <a:endParaRPr lang="en-US" sz="1000"/>
          </a:p>
        </p:txBody>
      </p:sp>
      <p:sp>
        <p:nvSpPr>
          <p:cNvPr id="17" name="stat-6"/>
          <p:cNvSpPr txBox="1"/>
          <p:nvPr/>
        </p:nvSpPr>
        <p:spPr>
          <a:xfrm>
            <a:off x="8128000" y="3835400"/>
            <a:ext cx="3251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4400">
                <a:solidFill>
                  <a:srgbClr val="111111"/>
                </a:solidFill>
                <a:latin typeface="Oranienbaum"/>
                <a:ea typeface="Oranienbaum"/>
              </a:rPr>
              <a:t>30 s</a:t>
            </a:r>
            <a:endParaRPr lang="en-US" sz="4400"/>
          </a:p>
        </p:txBody>
      </p:sp>
      <p:sp>
        <p:nvSpPr>
          <p:cNvPr id="18" name="stat-6-label"/>
          <p:cNvSpPr txBox="1"/>
          <p:nvPr/>
        </p:nvSpPr>
        <p:spPr>
          <a:xfrm>
            <a:off x="8128000" y="4622800"/>
            <a:ext cx="325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5F625F"/>
                </a:solidFill>
                <a:latin typeface="Liter"/>
                <a:ea typeface="Liter"/>
              </a:rPr>
              <a:t>ONE SENTENCE TO RANKED MATCHES</a:t>
            </a:r>
            <a:endParaRPr lang="en-US" sz="1000"/>
          </a:p>
        </p:txBody>
      </p:sp>
      <p:sp>
        <p:nvSpPr>
          <p:cNvPr id="19" name="vdiv-1"/>
          <p:cNvSpPr/>
          <p:nvPr/>
        </p:nvSpPr>
        <p:spPr>
          <a:xfrm>
            <a:off x="4267200" y="2336800"/>
            <a:ext cx="12700" cy="2463800"/>
          </a:xfrm>
          <a:prstGeom prst="rect">
            <a:avLst/>
          </a:prstGeom>
          <a:solidFill>
            <a:srgbClr val="111111">
              <a:alpha val="14118"/>
            </a:srgbClr>
          </a:solidFill>
          <a:ln>
            <a:noFill/>
          </a:ln>
        </p:spPr>
      </p:sp>
      <p:sp>
        <p:nvSpPr>
          <p:cNvPr id="20" name="vdiv-2"/>
          <p:cNvSpPr/>
          <p:nvPr/>
        </p:nvSpPr>
        <p:spPr>
          <a:xfrm>
            <a:off x="7924800" y="2336800"/>
            <a:ext cx="12700" cy="2463800"/>
          </a:xfrm>
          <a:prstGeom prst="rect">
            <a:avLst/>
          </a:prstGeom>
          <a:solidFill>
            <a:srgbClr val="111111">
              <a:alpha val="14118"/>
            </a:srgbClr>
          </a:solidFill>
          <a:ln>
            <a:noFill/>
          </a:ln>
        </p:spPr>
      </p:sp>
      <p:sp>
        <p:nvSpPr>
          <p:cNvPr id="21" name="hair-bottom"/>
          <p:cNvSpPr/>
          <p:nvPr/>
        </p:nvSpPr>
        <p:spPr>
          <a:xfrm>
            <a:off x="812800" y="5105400"/>
            <a:ext cx="10566400" cy="12700"/>
          </a:xfrm>
          <a:prstGeom prst="rect">
            <a:avLst/>
          </a:prstGeom>
          <a:solidFill>
            <a:srgbClr val="111111">
              <a:alpha val="14118"/>
            </a:srgbClr>
          </a:solidFill>
          <a:ln>
            <a:noFill/>
          </a:ln>
        </p:spPr>
      </p:sp>
      <p:sp>
        <p:nvSpPr>
          <p:cNvPr id="22" name="honest"/>
          <p:cNvSpPr txBox="1"/>
          <p:nvPr/>
        </p:nvSpPr>
        <p:spPr>
          <a:xfrm>
            <a:off x="812800" y="5410200"/>
            <a:ext cx="1056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B87333"/>
                </a:solidFill>
                <a:latin typeface="Liter"/>
                <a:ea typeface="Liter"/>
              </a:rPr>
              <a:t>What broke:</a:t>
            </a:r>
            <a:r>
              <a:rPr lang="en-US" sz="1200">
                <a:solidFill>
                  <a:srgbClr val="5F625F"/>
                </a:solidFill>
                <a:latin typeface="Liter"/>
                <a:ea typeface="Liter"/>
              </a:rPr>
              <a:t> the README has no setup path, naming is inconsistent, and the AI review tool dead-ends on Alberta references. All logged with fixes ranked in docs/user-tests/. We show the seams.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B87333"/>
                </a:solidFill>
                <a:latin typeface="Liter"/>
                <a:ea typeface="Liter"/>
              </a:rPr>
              <a:t>09 · WHO THIS IS FOR</a:t>
            </a:r>
            <a:endParaRPr lang="en-US" sz="1000"/>
          </a:p>
        </p:txBody>
      </p:sp>
      <p:sp>
        <p:nvSpPr>
          <p:cNvPr id="3" name="top-right"/>
          <p:cNvSpPr txBox="1"/>
          <p:nvPr/>
        </p:nvSpPr>
        <p:spPr>
          <a:xfrm>
            <a:off x="8382000" y="4572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111111">
                    <a:alpha val="40000"/>
                  </a:srgbClr>
                </a:solidFill>
                <a:latin typeface="Liter"/>
                <a:ea typeface="Liter"/>
              </a:rPr>
              <a:t>W&amp;V · WORKSPACEALBERTA</a:t>
            </a:r>
            <a:endParaRPr lang="en-US" sz="1000"/>
          </a:p>
        </p:txBody>
      </p:sp>
      <p:sp>
        <p:nvSpPr>
          <p:cNvPr id="4" name="headline"/>
          <p:cNvSpPr txBox="1"/>
          <p:nvPr/>
        </p:nvSpPr>
        <p:spPr>
          <a:xfrm>
            <a:off x="812800" y="1066800"/>
            <a:ext cx="10566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4000">
                <a:solidFill>
                  <a:srgbClr val="111111"/>
                </a:solidFill>
                <a:latin typeface="Oranienbaum"/>
                <a:ea typeface="Oranienbaum"/>
              </a:rPr>
              <a:t>2,500 companies. </a:t>
            </a:r>
            <a:r>
              <a:rPr lang="en-US" sz="4000">
                <a:solidFill>
                  <a:srgbClr val="B87333"/>
                </a:solidFill>
                <a:latin typeface="Oranienbaum"/>
                <a:ea typeface="Oranienbaum"/>
              </a:rPr>
              <a:t>$37 billion.</a:t>
            </a:r>
            <a:r>
              <a:rPr lang="en-US" sz="4000">
                <a:solidFill>
                  <a:srgbClr val="111111"/>
                </a:solidFill>
                <a:latin typeface="Oranienbaum"/>
                <a:ea typeface="Oranienbaum"/>
              </a:rPr>
              <a:t> One search box away.</a:t>
            </a:r>
            <a:endParaRPr lang="en-US" sz="4000"/>
          </a:p>
        </p:txBody>
      </p:sp>
      <p:graphicFrame>
        <p:nvGraphicFramePr>
          <p:cNvPr id="5" name="market-table"/>
          <p:cNvGraphicFramePr>
            <a:graphicFrameLocks noGrp="1"/>
          </p:cNvGraphicFramePr>
          <p:nvPr/>
        </p:nvGraphicFramePr>
        <p:xfrm>
          <a:off x="812800" y="1981200"/>
          <a:ext cx="10566400" cy="2641600"/>
        </p:xfrm>
        <a:graphic>
          <a:graphicData uri="http://schemas.openxmlformats.org/drawingml/2006/table">
            <a:tbl>
              <a:tblPr/>
              <a:tblGrid>
                <a:gridCol w="3381248"/>
                <a:gridCol w="3592576"/>
                <a:gridCol w="1901952"/>
                <a:gridCol w="1690624"/>
              </a:tblGrid>
              <a:tr h="581152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000" spc="150" kern="0">
                          <a:solidFill>
                            <a:srgbClr val="111111"/>
                          </a:solidFill>
                          <a:latin typeface="Liter"/>
                          <a:ea typeface="Liter"/>
                        </a:rPr>
                        <a:t>SECTOR</a:t>
                      </a:r>
                      <a:endParaRPr lang="en-US" sz="100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solidFill>
                      <a:srgbClr val="D6D3CA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000" spc="150" kern="0">
                          <a:solidFill>
                            <a:srgbClr val="111111"/>
                          </a:solidFill>
                          <a:latin typeface="Liter"/>
                          <a:ea typeface="Liter"/>
                        </a:rPr>
                        <a:t>COMPANIES</a:t>
                      </a:r>
                      <a:endParaRPr lang="en-US" sz="100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solidFill>
                      <a:srgbClr val="D6D3CA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000" spc="150" kern="0">
                          <a:solidFill>
                            <a:srgbClr val="111111"/>
                          </a:solidFill>
                          <a:latin typeface="Liter"/>
                          <a:ea typeface="Liter"/>
                        </a:rPr>
                        <a:t>IMPACT</a:t>
                      </a:r>
                      <a:endParaRPr lang="en-US" sz="100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solidFill>
                      <a:srgbClr val="D6D3CA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000" spc="150" kern="0">
                          <a:solidFill>
                            <a:srgbClr val="111111"/>
                          </a:solidFill>
                          <a:latin typeface="Liter"/>
                          <a:ea typeface="Liter"/>
                        </a:rPr>
                        <a:t>JOBS</a:t>
                      </a:r>
                      <a:endParaRPr lang="en-US" sz="100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solidFill>
                      <a:srgbClr val="D6D3CA"/>
                    </a:solidFill>
                  </a:tcPr>
                </a:tc>
              </a:tr>
              <a:tr h="686816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50">
                          <a:solidFill>
                            <a:srgbClr val="111111"/>
                          </a:solidFill>
                          <a:latin typeface="Liter"/>
                          <a:ea typeface="Liter"/>
                        </a:rPr>
                        <a:t>Forestry &amp; wood products</a:t>
                      </a:r>
                      <a:endParaRPr lang="en-US" sz="125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150">
                          <a:solidFill>
                            <a:srgbClr val="5F625F"/>
                          </a:solidFill>
                          <a:latin typeface="Liter"/>
                          <a:ea typeface="Liter"/>
                        </a:rPr>
                        <a:t>676+ businesses, 40 major mills</a:t>
                      </a:r>
                      <a:endParaRPr lang="en-US" sz="115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600">
                          <a:solidFill>
                            <a:srgbClr val="111111"/>
                          </a:solidFill>
                          <a:latin typeface="Oranienbaum"/>
                          <a:ea typeface="Oranienbaum"/>
                        </a:rPr>
                        <a:t>$14B</a:t>
                      </a:r>
                      <a:endParaRPr lang="en-US" sz="160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600">
                          <a:solidFill>
                            <a:srgbClr val="111111"/>
                          </a:solidFill>
                          <a:latin typeface="Oranienbaum"/>
                          <a:ea typeface="Oranienbaum"/>
                        </a:rPr>
                        <a:t>41,400</a:t>
                      </a:r>
                      <a:endParaRPr lang="en-US" sz="160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noFill/>
                  </a:tcPr>
                </a:tc>
              </a:tr>
              <a:tr h="686816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50">
                          <a:solidFill>
                            <a:srgbClr val="111111"/>
                          </a:solidFill>
                          <a:latin typeface="Liter"/>
                          <a:ea typeface="Liter"/>
                        </a:rPr>
                        <a:t>Fabricated metal products</a:t>
                      </a:r>
                      <a:endParaRPr lang="en-US" sz="125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150">
                          <a:solidFill>
                            <a:srgbClr val="5F625F"/>
                          </a:solidFill>
                          <a:latin typeface="Liter"/>
                          <a:ea typeface="Liter"/>
                        </a:rPr>
                        <a:t>1,871 establishments</a:t>
                      </a:r>
                      <a:endParaRPr lang="en-US" sz="115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600">
                          <a:solidFill>
                            <a:srgbClr val="111111"/>
                          </a:solidFill>
                          <a:latin typeface="Oranienbaum"/>
                          <a:ea typeface="Oranienbaum"/>
                        </a:rPr>
                        <a:t>$23.4B sector</a:t>
                      </a:r>
                      <a:endParaRPr lang="en-US" sz="160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600">
                          <a:solidFill>
                            <a:srgbClr val="111111"/>
                          </a:solidFill>
                          <a:latin typeface="Oranienbaum"/>
                          <a:ea typeface="Oranienbaum"/>
                        </a:rPr>
                        <a:t>16,600</a:t>
                      </a:r>
                      <a:endParaRPr lang="en-US" sz="160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noFill/>
                  </a:tcPr>
                </a:tc>
              </a:tr>
              <a:tr h="686816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50">
                          <a:solidFill>
                            <a:srgbClr val="111111"/>
                          </a:solidFill>
                          <a:latin typeface="Liter"/>
                          <a:ea typeface="Liter"/>
                        </a:rPr>
                        <a:t>Primary &amp; machinery mfg.</a:t>
                      </a:r>
                      <a:endParaRPr lang="en-US" sz="125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150">
                          <a:solidFill>
                            <a:srgbClr val="5F625F"/>
                          </a:solidFill>
                          <a:latin typeface="Liter"/>
                          <a:ea typeface="Liter"/>
                        </a:rPr>
                        <a:t>200+ facilities</a:t>
                      </a:r>
                      <a:endParaRPr lang="en-US" sz="115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150" i="1">
                          <a:solidFill>
                            <a:srgbClr val="5F625F"/>
                          </a:solidFill>
                          <a:latin typeface="Liter"/>
                          <a:ea typeface="Liter"/>
                        </a:rPr>
                        <a:t>included above</a:t>
                      </a:r>
                      <a:endParaRPr lang="en-US" sz="115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600">
                          <a:solidFill>
                            <a:srgbClr val="111111"/>
                          </a:solidFill>
                          <a:latin typeface="Oranienbaum"/>
                          <a:ea typeface="Oranienbaum"/>
                        </a:rPr>
                        <a:t>12,000+</a:t>
                      </a:r>
                      <a:endParaRPr lang="en-US" sz="1600"/>
                    </a:p>
                  </a:txBody>
                  <a:tcPr marL="91440" marR="91440" marT="45720" marB="45720" anchor="ctr">
                    <a:lnL w="12700">
                      <a:solidFill>
                        <a:srgbClr val="111111">
                          <a:alpha val="14118"/>
                        </a:srgbClr>
                      </a:solidFill>
                    </a:lnL>
                    <a:lnR w="12700">
                      <a:solidFill>
                        <a:srgbClr val="111111">
                          <a:alpha val="14118"/>
                        </a:srgbClr>
                      </a:solidFill>
                    </a:lnR>
                    <a:lnT w="12700">
                      <a:solidFill>
                        <a:srgbClr val="111111">
                          <a:alpha val="14118"/>
                        </a:srgbClr>
                      </a:solidFill>
                    </a:lnT>
                    <a:lnB w="12700">
                      <a:solidFill>
                        <a:srgbClr val="111111">
                          <a:alpha val="14118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chip-1"/>
          <p:cNvSpPr/>
          <p:nvPr/>
        </p:nvSpPr>
        <p:spPr>
          <a:xfrm>
            <a:off x="812800" y="4978400"/>
            <a:ext cx="19304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7" name="chip-1-label"/>
          <p:cNvSpPr txBox="1"/>
          <p:nvPr/>
        </p:nvSpPr>
        <p:spPr>
          <a:xfrm>
            <a:off x="812800" y="49784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50" spc="150" kern="0">
                <a:solidFill>
                  <a:srgbClr val="5F625F"/>
                </a:solidFill>
                <a:latin typeface="Liter"/>
                <a:ea typeface="Liter"/>
              </a:rPr>
              <a:t>$4B FOREST EXPORTS</a:t>
            </a:r>
            <a:endParaRPr lang="en-US" sz="950"/>
          </a:p>
        </p:txBody>
      </p:sp>
      <p:sp>
        <p:nvSpPr>
          <p:cNvPr id="8" name="chip-2"/>
          <p:cNvSpPr/>
          <p:nvPr/>
        </p:nvSpPr>
        <p:spPr>
          <a:xfrm>
            <a:off x="2895600" y="4978400"/>
            <a:ext cx="42672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9" name="chip-2-label"/>
          <p:cNvSpPr txBox="1"/>
          <p:nvPr/>
        </p:nvSpPr>
        <p:spPr>
          <a:xfrm>
            <a:off x="2895600" y="4978400"/>
            <a:ext cx="4267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50" spc="150" kern="0">
                <a:solidFill>
                  <a:srgbClr val="5F625F"/>
                </a:solidFill>
                <a:latin typeface="Liter"/>
                <a:ea typeface="Liter"/>
              </a:rPr>
              <a:t>70 COMMUNITIES DEPEND ON THESE INDUSTRIES</a:t>
            </a:r>
            <a:endParaRPr lang="en-US" sz="950"/>
          </a:p>
        </p:txBody>
      </p:sp>
      <p:sp>
        <p:nvSpPr>
          <p:cNvPr id="10" name="chip-3"/>
          <p:cNvSpPr/>
          <p:nvPr/>
        </p:nvSpPr>
        <p:spPr>
          <a:xfrm>
            <a:off x="7315200" y="4978400"/>
            <a:ext cx="21844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11" name="chip-3-label"/>
          <p:cNvSpPr txBox="1"/>
          <p:nvPr/>
        </p:nvSpPr>
        <p:spPr>
          <a:xfrm>
            <a:off x="7315200" y="4978400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50" spc="150" kern="0">
                <a:solidFill>
                  <a:srgbClr val="5F625F"/>
                </a:solidFill>
                <a:latin typeface="Liter"/>
                <a:ea typeface="Liter"/>
              </a:rPr>
              <a:t>$988M TAX REVENUE</a:t>
            </a:r>
            <a:endParaRPr lang="en-US" sz="950"/>
          </a:p>
        </p:txBody>
      </p:sp>
      <p:sp>
        <p:nvSpPr>
          <p:cNvPr id="12" name="caption"/>
          <p:cNvSpPr txBox="1"/>
          <p:nvPr/>
        </p:nvSpPr>
        <p:spPr>
          <a:xfrm>
            <a:off x="812800" y="57404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00" spc="200" kern="0">
                <a:solidFill>
                  <a:srgbClr val="5F625F"/>
                </a:solidFill>
                <a:latin typeface="Liter"/>
                <a:ea typeface="Liter"/>
              </a:rPr>
              <a:t>STATISTICS CANADA · INNOVATION CANADA · ALBERTA FOREST PRODUCTS ASSOCIATION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0A0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D9A441"/>
                </a:solidFill>
                <a:latin typeface="Liter"/>
                <a:ea typeface="Liter"/>
              </a:rPr>
              <a:t>10 · THE SOVEREIGN PATH</a:t>
            </a:r>
            <a:endParaRPr lang="en-US" sz="1000"/>
          </a:p>
        </p:txBody>
      </p:sp>
      <p:sp>
        <p:nvSpPr>
          <p:cNvPr id="3" name="top-right"/>
          <p:cNvSpPr txBox="1"/>
          <p:nvPr/>
        </p:nvSpPr>
        <p:spPr>
          <a:xfrm>
            <a:off x="8382000" y="4572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W&amp;V · WORKSPACEALBERTA</a:t>
            </a:r>
            <a:endParaRPr lang="en-US" sz="1000"/>
          </a:p>
        </p:txBody>
      </p:sp>
      <p:sp>
        <p:nvSpPr>
          <p:cNvPr id="4" name="headline"/>
          <p:cNvSpPr txBox="1"/>
          <p:nvPr/>
        </p:nvSpPr>
        <p:spPr>
          <a:xfrm>
            <a:off x="812800" y="1066800"/>
            <a:ext cx="6604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10000"/>
              </a:lnSpc>
            </a:pPr>
            <a:r>
              <a:rPr lang="en-US" sz="3800">
                <a:solidFill>
                  <a:srgbClr val="F3EDE1"/>
                </a:solidFill>
                <a:latin typeface="Oranienbaum"/>
                <a:ea typeface="Oranienbaum"/>
              </a:rPr>
              <a:t>Canadian AI security is Canadian national security.</a:t>
            </a:r>
            <a:endParaRPr lang="en-US" sz="3800"/>
          </a:p>
        </p:txBody>
      </p:sp>
      <p:sp>
        <p:nvSpPr>
          <p:cNvPr id="5" name="stack-1-label"/>
          <p:cNvSpPr txBox="1"/>
          <p:nvPr/>
        </p:nvSpPr>
        <p:spPr>
          <a:xfrm>
            <a:off x="812800" y="27432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D9A441"/>
                </a:solidFill>
                <a:latin typeface="Liter"/>
                <a:ea typeface="Liter"/>
              </a:rPr>
              <a:t>DEMAND</a:t>
            </a:r>
            <a:endParaRPr lang="en-US" sz="1000"/>
          </a:p>
        </p:txBody>
      </p:sp>
      <p:sp>
        <p:nvSpPr>
          <p:cNvPr id="6" name="stack-1-value"/>
          <p:cNvSpPr txBox="1"/>
          <p:nvPr/>
        </p:nvSpPr>
        <p:spPr>
          <a:xfrm>
            <a:off x="2489200" y="27178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F3EDE1"/>
                </a:solidFill>
                <a:latin typeface="Liter"/>
                <a:ea typeface="Liter"/>
              </a:rPr>
              <a:t>CanadaBuys + Alberta APC</a:t>
            </a:r>
            <a:endParaRPr lang="en-US" sz="1400"/>
          </a:p>
        </p:txBody>
      </p:sp>
      <p:sp>
        <p:nvSpPr>
          <p:cNvPr id="7" name="stack-sep-1"/>
          <p:cNvSpPr/>
          <p:nvPr/>
        </p:nvSpPr>
        <p:spPr>
          <a:xfrm>
            <a:off x="812800" y="3225800"/>
            <a:ext cx="6502400" cy="12700"/>
          </a:xfrm>
          <a:prstGeom prst="rect">
            <a:avLst/>
          </a:prstGeom>
          <a:solidFill>
            <a:srgbClr val="F3EDE1">
              <a:alpha val="12157"/>
            </a:srgbClr>
          </a:solidFill>
          <a:ln>
            <a:noFill/>
          </a:ln>
        </p:spPr>
      </p:sp>
      <p:sp>
        <p:nvSpPr>
          <p:cNvPr id="8" name="stack-2-label"/>
          <p:cNvSpPr txBox="1"/>
          <p:nvPr/>
        </p:nvSpPr>
        <p:spPr>
          <a:xfrm>
            <a:off x="812800" y="34544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D9A441"/>
                </a:solidFill>
                <a:latin typeface="Liter"/>
                <a:ea typeface="Liter"/>
              </a:rPr>
              <a:t>MODEL</a:t>
            </a:r>
            <a:endParaRPr lang="en-US" sz="1000"/>
          </a:p>
        </p:txBody>
      </p:sp>
      <p:sp>
        <p:nvSpPr>
          <p:cNvPr id="9" name="stack-2-value"/>
          <p:cNvSpPr txBox="1"/>
          <p:nvPr/>
        </p:nvSpPr>
        <p:spPr>
          <a:xfrm>
            <a:off x="2489200" y="3429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F3EDE1"/>
                </a:solidFill>
                <a:latin typeface="Liter"/>
                <a:ea typeface="Liter"/>
              </a:rPr>
              <a:t>Cohere Command A+ (open, W4A4 on Hugging Face)</a:t>
            </a:r>
            <a:endParaRPr lang="en-US" sz="1400"/>
          </a:p>
        </p:txBody>
      </p:sp>
      <p:sp>
        <p:nvSpPr>
          <p:cNvPr id="10" name="stack-sep-2"/>
          <p:cNvSpPr/>
          <p:nvPr/>
        </p:nvSpPr>
        <p:spPr>
          <a:xfrm>
            <a:off x="812800" y="3937000"/>
            <a:ext cx="6502400" cy="12700"/>
          </a:xfrm>
          <a:prstGeom prst="rect">
            <a:avLst/>
          </a:prstGeom>
          <a:solidFill>
            <a:srgbClr val="F3EDE1">
              <a:alpha val="12157"/>
            </a:srgbClr>
          </a:solidFill>
          <a:ln>
            <a:noFill/>
          </a:ln>
        </p:spPr>
      </p:sp>
      <p:sp>
        <p:nvSpPr>
          <p:cNvPr id="11" name="stack-3-label"/>
          <p:cNvSpPr txBox="1"/>
          <p:nvPr/>
        </p:nvSpPr>
        <p:spPr>
          <a:xfrm>
            <a:off x="812800" y="41656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D9A441"/>
                </a:solidFill>
                <a:latin typeface="Liter"/>
                <a:ea typeface="Liter"/>
              </a:rPr>
              <a:t>TOOLS</a:t>
            </a:r>
            <a:endParaRPr lang="en-US" sz="1000"/>
          </a:p>
        </p:txBody>
      </p:sp>
      <p:sp>
        <p:nvSpPr>
          <p:cNvPr id="12" name="stack-3-value"/>
          <p:cNvSpPr txBox="1"/>
          <p:nvPr/>
        </p:nvSpPr>
        <p:spPr>
          <a:xfrm>
            <a:off x="2489200" y="4140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F3EDE1"/>
                </a:solidFill>
                <a:latin typeface="Liter"/>
                <a:ea typeface="Liter"/>
              </a:rPr>
              <a:t>this MCP server, open and free</a:t>
            </a:r>
            <a:endParaRPr lang="en-US" sz="1400"/>
          </a:p>
        </p:txBody>
      </p:sp>
      <p:sp>
        <p:nvSpPr>
          <p:cNvPr id="13" name="stack-sep-3"/>
          <p:cNvSpPr/>
          <p:nvPr/>
        </p:nvSpPr>
        <p:spPr>
          <a:xfrm>
            <a:off x="812800" y="4648200"/>
            <a:ext cx="6502400" cy="12700"/>
          </a:xfrm>
          <a:prstGeom prst="rect">
            <a:avLst/>
          </a:prstGeom>
          <a:solidFill>
            <a:srgbClr val="F3EDE1">
              <a:alpha val="12157"/>
            </a:srgbClr>
          </a:solidFill>
          <a:ln>
            <a:noFill/>
          </a:ln>
        </p:spPr>
      </p:sp>
      <p:sp>
        <p:nvSpPr>
          <p:cNvPr id="14" name="stack-4-label"/>
          <p:cNvSpPr txBox="1"/>
          <p:nvPr/>
        </p:nvSpPr>
        <p:spPr>
          <a:xfrm>
            <a:off x="812800" y="48768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D9A441"/>
                </a:solidFill>
                <a:latin typeface="Liter"/>
                <a:ea typeface="Liter"/>
              </a:rPr>
              <a:t>COMPUTE</a:t>
            </a:r>
            <a:endParaRPr lang="en-US" sz="1000"/>
          </a:p>
        </p:txBody>
      </p:sp>
      <p:sp>
        <p:nvSpPr>
          <p:cNvPr id="15" name="stack-4-value"/>
          <p:cNvSpPr txBox="1"/>
          <p:nvPr/>
        </p:nvSpPr>
        <p:spPr>
          <a:xfrm>
            <a:off x="2489200" y="48514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400">
                <a:solidFill>
                  <a:srgbClr val="F3EDE1"/>
                </a:solidFill>
                <a:latin typeface="Liter"/>
                <a:ea typeface="Liter"/>
              </a:rPr>
              <a:t>managed terminals now; Canadian-built Linux devices on the long path</a:t>
            </a:r>
            <a:endParaRPr lang="en-US" sz="1400"/>
          </a:p>
        </p:txBody>
      </p:sp>
      <p:sp>
        <p:nvSpPr>
          <p:cNvPr id="16" name="sub"/>
          <p:cNvSpPr txBox="1"/>
          <p:nvPr/>
        </p:nvSpPr>
        <p:spPr>
          <a:xfrm>
            <a:off x="812800" y="5715000"/>
            <a:ext cx="6502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5000"/>
              </a:lnSpc>
            </a:pPr>
            <a:r>
              <a:rPr lang="en-US" sz="130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The point is not nationalism as decoration. The point is operational independence.</a:t>
            </a:r>
            <a:endParaRPr lang="en-US" sz="1300"/>
          </a:p>
        </p:txBody>
      </p:sp>
      <p:sp>
        <p:nvSpPr>
          <p:cNvPr id="17" name="term-panel"/>
          <p:cNvSpPr/>
          <p:nvPr/>
        </p:nvSpPr>
        <p:spPr>
          <a:xfrm>
            <a:off x="7620000" y="1066800"/>
            <a:ext cx="3759200" cy="4572000"/>
          </a:xfrm>
          <a:prstGeom prst="rect">
            <a:avLst/>
          </a:prstGeom>
          <a:solidFill>
            <a:srgbClr val="100C09"/>
          </a:solidFill>
          <a:ln w="12700">
            <a:solidFill>
              <a:srgbClr val="F3EDE1">
                <a:alpha val="21961"/>
              </a:srgbClr>
            </a:solidFill>
          </a:ln>
        </p:spPr>
      </p:sp>
      <p:pic>
        <p:nvPicPr>
          <p:cNvPr id="18" name="term-img"/>
          <p:cNvPicPr/>
          <p:nvPr/>
        </p:nvPicPr>
        <p:blipFill>
          <a:blip r:embed="rIdImage3"/>
          <a:srcRect t="-42143" b="-42143"/>
          <a:stretch>
            <a:fillRect/>
          </a:stretch>
        </p:blipFill>
        <p:spPr>
          <a:xfrm>
            <a:off x="7721600" y="1168400"/>
            <a:ext cx="3556000" cy="4368800"/>
          </a:xfrm>
          <a:prstGeom prst="rect">
            <a:avLst/>
          </a:prstGeom>
          <a:ln>
            <a:noFill/>
          </a:ln>
        </p:spPr>
      </p:pic>
      <p:sp>
        <p:nvSpPr>
          <p:cNvPr id="19" name="term-caption"/>
          <p:cNvSpPr txBox="1"/>
          <p:nvPr/>
        </p:nvSpPr>
        <p:spPr>
          <a:xfrm>
            <a:off x="7620000" y="5740400"/>
            <a:ext cx="3759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900" spc="20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THE WORKSPACEALBERTA TERMINAL · ASSEMBLED NOW, CANADIAN-BUILT ON THE LONG PATH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0A0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Image4"/>
          <a:srcRect t="22929" b="229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bg-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07">
              <a:alpha val="87843"/>
            </a:srgbClr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812800" y="4572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D9A441"/>
                </a:solidFill>
                <a:latin typeface="Liter"/>
                <a:ea typeface="Liter"/>
              </a:rPr>
              <a:t>WARRE &amp; VAVASOUR · AN AI LABORATORY</a:t>
            </a:r>
            <a:endParaRPr lang="en-US" sz="1000"/>
          </a:p>
        </p:txBody>
      </p:sp>
      <p:sp>
        <p:nvSpPr>
          <p:cNvPr id="5" name="top-right"/>
          <p:cNvSpPr txBox="1"/>
          <p:nvPr/>
        </p:nvSpPr>
        <p:spPr>
          <a:xfrm>
            <a:off x="8382000" y="4572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W&amp;V · WORKSPACEALBERTA</a:t>
            </a:r>
            <a:endParaRPr lang="en-US" sz="1000"/>
          </a:p>
        </p:txBody>
      </p:sp>
      <p:sp>
        <p:nvSpPr>
          <p:cNvPr id="6" name="headline"/>
          <p:cNvSpPr txBox="1"/>
          <p:nvPr/>
        </p:nvSpPr>
        <p:spPr>
          <a:xfrm>
            <a:off x="812800" y="1905000"/>
            <a:ext cx="10566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10000"/>
              </a:lnSpc>
            </a:pPr>
            <a:r>
              <a:rPr lang="en-US" sz="5600">
                <a:solidFill>
                  <a:srgbClr val="F3EDE1"/>
                </a:solidFill>
                <a:latin typeface="Oranienbaum"/>
                <a:ea typeface="Oranienbaum"/>
              </a:rPr>
              <a:t>Canada is going to work.</a:t>
            </a:r>
            <a:endParaRPr lang="en-US" sz="5600"/>
          </a:p>
        </p:txBody>
      </p:sp>
      <p:sp>
        <p:nvSpPr>
          <p:cNvPr id="7" name="sub"/>
          <p:cNvSpPr txBox="1"/>
          <p:nvPr/>
        </p:nvSpPr>
        <p:spPr>
          <a:xfrm>
            <a:off x="812800" y="2997200"/>
            <a:ext cx="787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More contracts won. More jobs kept. More skill developed. More value staying here at home.</a:t>
            </a:r>
            <a:endParaRPr lang="en-US" sz="1500"/>
          </a:p>
        </p:txBody>
      </p:sp>
      <p:sp>
        <p:nvSpPr>
          <p:cNvPr id="8" name="cta-1-rule"/>
          <p:cNvSpPr/>
          <p:nvPr/>
        </p:nvSpPr>
        <p:spPr>
          <a:xfrm>
            <a:off x="812800" y="4267200"/>
            <a:ext cx="1016000" cy="25400"/>
          </a:xfrm>
          <a:prstGeom prst="rect">
            <a:avLst/>
          </a:prstGeom>
          <a:solidFill>
            <a:srgbClr val="D9A441"/>
          </a:solidFill>
          <a:ln>
            <a:noFill/>
          </a:ln>
        </p:spPr>
      </p:sp>
      <p:sp>
        <p:nvSpPr>
          <p:cNvPr id="9" name="cta-1-label"/>
          <p:cNvSpPr txBox="1"/>
          <p:nvPr/>
        </p:nvSpPr>
        <p:spPr>
          <a:xfrm>
            <a:off x="812800" y="4470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READ THE BRIEF TOMORROW — FREE</a:t>
            </a:r>
            <a:endParaRPr lang="en-US" sz="1000"/>
          </a:p>
        </p:txBody>
      </p:sp>
      <p:sp>
        <p:nvSpPr>
          <p:cNvPr id="10" name="cta-1-link"/>
          <p:cNvSpPr txBox="1"/>
          <p:nvPr/>
        </p:nvSpPr>
        <p:spPr>
          <a:xfrm>
            <a:off x="812800" y="47498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F3EDE1"/>
                </a:solidFill>
                <a:latin typeface="Liter"/>
                <a:ea typeface="Liter"/>
              </a:rPr>
              <a:t>github.com/HarleyCoops/WorkspaceAlberta</a:t>
            </a:r>
            <a:endParaRPr lang="en-US" sz="1400"/>
          </a:p>
        </p:txBody>
      </p:sp>
      <p:sp>
        <p:nvSpPr>
          <p:cNvPr id="11" name="cta-2-rule"/>
          <p:cNvSpPr/>
          <p:nvPr/>
        </p:nvSpPr>
        <p:spPr>
          <a:xfrm>
            <a:off x="6299200" y="4267200"/>
            <a:ext cx="1016000" cy="25400"/>
          </a:xfrm>
          <a:prstGeom prst="rect">
            <a:avLst/>
          </a:prstGeom>
          <a:solidFill>
            <a:srgbClr val="D9A441"/>
          </a:solidFill>
          <a:ln>
            <a:noFill/>
          </a:ln>
        </p:spPr>
      </p:sp>
      <p:sp>
        <p:nvSpPr>
          <p:cNvPr id="12" name="cta-2-label"/>
          <p:cNvSpPr txBox="1"/>
          <p:nvPr/>
        </p:nvSpPr>
        <p:spPr>
          <a:xfrm>
            <a:off x="6299200" y="4470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F3EDE1">
                    <a:alpha val="65882"/>
                  </a:srgbClr>
                </a:solidFill>
                <a:latin typeface="Liter"/>
                <a:ea typeface="Liter"/>
              </a:rPr>
              <a:t>READY TO BID — $85 CAD/MONTH</a:t>
            </a:r>
            <a:endParaRPr lang="en-US" sz="1000"/>
          </a:p>
        </p:txBody>
      </p:sp>
      <p:sp>
        <p:nvSpPr>
          <p:cNvPr id="13" name="cta-2-link"/>
          <p:cNvSpPr txBox="1"/>
          <p:nvPr/>
        </p:nvSpPr>
        <p:spPr>
          <a:xfrm>
            <a:off x="6299200" y="47498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F3EDE1"/>
                </a:solidFill>
                <a:latin typeface="Liter"/>
                <a:ea typeface="Liter"/>
              </a:rPr>
              <a:t>buy.stripe.com/14AfZieZmcb2eYB5v1g7e0a</a:t>
            </a:r>
            <a:endParaRPr lang="en-US" sz="1400"/>
          </a:p>
        </p:txBody>
      </p:sp>
      <p:sp>
        <p:nvSpPr>
          <p:cNvPr id="14" name="bottom-left"/>
          <p:cNvSpPr txBox="1"/>
          <p:nvPr/>
        </p:nvSpPr>
        <p:spPr>
          <a:xfrm>
            <a:off x="812800" y="64262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00" spc="15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WARRE &amp; VAVASOUR · AN AI LABORATORY · BOW VALLEY, ALBERTA</a:t>
            </a:r>
            <a:endParaRPr lang="en-US" sz="900"/>
          </a:p>
        </p:txBody>
      </p:sp>
      <p:sp>
        <p:nvSpPr>
          <p:cNvPr id="15" name="bottom-right"/>
          <p:cNvSpPr txBox="1"/>
          <p:nvPr/>
        </p:nvSpPr>
        <p:spPr>
          <a:xfrm>
            <a:off x="7823200" y="6426200"/>
            <a:ext cx="3556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00" spc="150" kern="0">
                <a:solidFill>
                  <a:srgbClr val="F3EDE1">
                    <a:alpha val="40000"/>
                  </a:srgbClr>
                </a:solidFill>
                <a:latin typeface="Liter"/>
                <a:ea typeface="Liter"/>
              </a:rPr>
              <a:t>BUILT FOR TRADES, NOT TECH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609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B87333"/>
                </a:solidFill>
                <a:latin typeface="Liter"/>
                <a:ea typeface="Liter"/>
              </a:rPr>
              <a:t>APPENDIX · ONE FAMILY, TWO REGISTERS</a:t>
            </a:r>
            <a:endParaRPr lang="en-US" sz="1000"/>
          </a:p>
        </p:txBody>
      </p:sp>
      <p:sp>
        <p:nvSpPr>
          <p:cNvPr id="3" name="top-right"/>
          <p:cNvSpPr txBox="1"/>
          <p:nvPr/>
        </p:nvSpPr>
        <p:spPr>
          <a:xfrm>
            <a:off x="8382000" y="4572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000" spc="250" kern="0">
                <a:solidFill>
                  <a:srgbClr val="111111">
                    <a:alpha val="40000"/>
                  </a:srgbClr>
                </a:solidFill>
                <a:latin typeface="Liter"/>
                <a:ea typeface="Liter"/>
              </a:rPr>
              <a:t>W&amp;V · WORKSPACEALBERTA</a:t>
            </a:r>
            <a:endParaRPr lang="en-US" sz="1000"/>
          </a:p>
        </p:txBody>
      </p:sp>
      <p:sp>
        <p:nvSpPr>
          <p:cNvPr id="4" name="headline"/>
          <p:cNvSpPr txBox="1"/>
          <p:nvPr/>
        </p:nvSpPr>
        <p:spPr>
          <a:xfrm>
            <a:off x="812800" y="1041400"/>
            <a:ext cx="10566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3200">
                <a:solidFill>
                  <a:srgbClr val="111111"/>
                </a:solidFill>
                <a:latin typeface="Oranienbaum"/>
                <a:ea typeface="Oranienbaum"/>
              </a:rPr>
              <a:t>Should the product have a separate brand? No — a register, not a divorce.</a:t>
            </a:r>
            <a:endParaRPr lang="en-US" sz="3200"/>
          </a:p>
        </p:txBody>
      </p:sp>
      <p:sp>
        <p:nvSpPr>
          <p:cNvPr id="5" name="lab-header"/>
          <p:cNvSpPr txBox="1"/>
          <p:nvPr/>
        </p:nvSpPr>
        <p:spPr>
          <a:xfrm>
            <a:off x="812800" y="2362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111111"/>
                </a:solidFill>
                <a:latin typeface="Liter"/>
                <a:ea typeface="Liter"/>
              </a:rPr>
              <a:t>WARRE &amp; VAVASOUR — THE LAB</a:t>
            </a:r>
            <a:endParaRPr lang="en-US" sz="1000"/>
          </a:p>
        </p:txBody>
      </p:sp>
      <p:sp>
        <p:nvSpPr>
          <p:cNvPr id="6" name="lab-sw-1"/>
          <p:cNvSpPr/>
          <p:nvPr/>
        </p:nvSpPr>
        <p:spPr>
          <a:xfrm>
            <a:off x="812800" y="2743200"/>
            <a:ext cx="609600" cy="609600"/>
          </a:xfrm>
          <a:prstGeom prst="rect">
            <a:avLst/>
          </a:prstGeom>
          <a:solidFill>
            <a:srgbClr val="0A0807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7" name="lab-sw-1-label"/>
          <p:cNvSpPr txBox="1"/>
          <p:nvPr/>
        </p:nvSpPr>
        <p:spPr>
          <a:xfrm>
            <a:off x="736600" y="34290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850" spc="50" kern="0">
                <a:solidFill>
                  <a:srgbClr val="5F625F"/>
                </a:solidFill>
                <a:latin typeface="Liter"/>
                <a:ea typeface="Liter"/>
              </a:rPr>
              <a:t>#0a0807</a:t>
            </a:r>
            <a:endParaRPr lang="en-US" sz="850"/>
          </a:p>
        </p:txBody>
      </p:sp>
      <p:sp>
        <p:nvSpPr>
          <p:cNvPr id="8" name="lab-sw-2"/>
          <p:cNvSpPr/>
          <p:nvPr/>
        </p:nvSpPr>
        <p:spPr>
          <a:xfrm>
            <a:off x="1625600" y="2743200"/>
            <a:ext cx="609600" cy="609600"/>
          </a:xfrm>
          <a:prstGeom prst="rect">
            <a:avLst/>
          </a:prstGeom>
          <a:solidFill>
            <a:srgbClr val="D9A441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9" name="lab-sw-2-label"/>
          <p:cNvSpPr txBox="1"/>
          <p:nvPr/>
        </p:nvSpPr>
        <p:spPr>
          <a:xfrm>
            <a:off x="1549400" y="34290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850" spc="50" kern="0">
                <a:solidFill>
                  <a:srgbClr val="5F625F"/>
                </a:solidFill>
                <a:latin typeface="Liter"/>
                <a:ea typeface="Liter"/>
              </a:rPr>
              <a:t>#d9a441</a:t>
            </a:r>
            <a:endParaRPr lang="en-US" sz="850"/>
          </a:p>
        </p:txBody>
      </p:sp>
      <p:sp>
        <p:nvSpPr>
          <p:cNvPr id="10" name="lab-sw-3"/>
          <p:cNvSpPr/>
          <p:nvPr/>
        </p:nvSpPr>
        <p:spPr>
          <a:xfrm>
            <a:off x="2438400" y="2743200"/>
            <a:ext cx="609600" cy="609600"/>
          </a:xfrm>
          <a:prstGeom prst="rect">
            <a:avLst/>
          </a:prstGeom>
          <a:solidFill>
            <a:srgbClr val="C2542A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11" name="lab-sw-3-label"/>
          <p:cNvSpPr txBox="1"/>
          <p:nvPr/>
        </p:nvSpPr>
        <p:spPr>
          <a:xfrm>
            <a:off x="2362200" y="34290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850" spc="50" kern="0">
                <a:solidFill>
                  <a:srgbClr val="5F625F"/>
                </a:solidFill>
                <a:latin typeface="Liter"/>
                <a:ea typeface="Liter"/>
              </a:rPr>
              <a:t>#c2542a</a:t>
            </a:r>
            <a:endParaRPr lang="en-US" sz="850"/>
          </a:p>
        </p:txBody>
      </p:sp>
      <p:sp>
        <p:nvSpPr>
          <p:cNvPr id="12" name="lab-sw-4"/>
          <p:cNvSpPr/>
          <p:nvPr/>
        </p:nvSpPr>
        <p:spPr>
          <a:xfrm>
            <a:off x="3251200" y="2743200"/>
            <a:ext cx="609600" cy="609600"/>
          </a:xfrm>
          <a:prstGeom prst="rect">
            <a:avLst/>
          </a:prstGeom>
          <a:solidFill>
            <a:srgbClr val="F3EDE1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13" name="lab-sw-4-label"/>
          <p:cNvSpPr txBox="1"/>
          <p:nvPr/>
        </p:nvSpPr>
        <p:spPr>
          <a:xfrm>
            <a:off x="3175000" y="34290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850" spc="50" kern="0">
                <a:solidFill>
                  <a:srgbClr val="5F625F"/>
                </a:solidFill>
                <a:latin typeface="Liter"/>
                <a:ea typeface="Liter"/>
              </a:rPr>
              <a:t>#f3ede1</a:t>
            </a:r>
            <a:endParaRPr lang="en-US" sz="850"/>
          </a:p>
        </p:txBody>
      </p:sp>
      <p:sp>
        <p:nvSpPr>
          <p:cNvPr id="14" name="lab-note"/>
          <p:cNvSpPr txBox="1"/>
          <p:nvPr/>
        </p:nvSpPr>
        <p:spPr>
          <a:xfrm>
            <a:off x="812800" y="38100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5000"/>
              </a:lnSpc>
            </a:pPr>
            <a:r>
              <a:rPr lang="en-US" sz="1200">
                <a:solidFill>
                  <a:srgbClr val="5F625F"/>
                </a:solidFill>
                <a:latin typeface="Liter"/>
                <a:ea typeface="Liter"/>
              </a:rPr>
              <a:t>Dark, editorial, conviction. Fraunces → Oranienbaum in this deck.</a:t>
            </a:r>
            <a:endParaRPr lang="en-US" sz="1200"/>
          </a:p>
        </p:txBody>
      </p:sp>
      <p:sp>
        <p:nvSpPr>
          <p:cNvPr id="15" name="prod-header"/>
          <p:cNvSpPr txBox="1"/>
          <p:nvPr/>
        </p:nvSpPr>
        <p:spPr>
          <a:xfrm>
            <a:off x="6299200" y="2362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 spc="200" kern="0">
                <a:solidFill>
                  <a:srgbClr val="111111"/>
                </a:solidFill>
                <a:latin typeface="Liter"/>
                <a:ea typeface="Liter"/>
              </a:rPr>
              <a:t>WORKSPACEALBERTA — THE PRODUCT</a:t>
            </a:r>
            <a:endParaRPr lang="en-US" sz="1000"/>
          </a:p>
        </p:txBody>
      </p:sp>
      <p:sp>
        <p:nvSpPr>
          <p:cNvPr id="16" name="prod-sw-1"/>
          <p:cNvSpPr/>
          <p:nvPr/>
        </p:nvSpPr>
        <p:spPr>
          <a:xfrm>
            <a:off x="6299200" y="2743200"/>
            <a:ext cx="609600" cy="609600"/>
          </a:xfrm>
          <a:prstGeom prst="rect">
            <a:avLst/>
          </a:prstGeom>
          <a:solidFill>
            <a:srgbClr val="F7F5EF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17" name="prod-sw-1-label"/>
          <p:cNvSpPr txBox="1"/>
          <p:nvPr/>
        </p:nvSpPr>
        <p:spPr>
          <a:xfrm>
            <a:off x="6223000" y="34290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850" spc="50" kern="0">
                <a:solidFill>
                  <a:srgbClr val="5F625F"/>
                </a:solidFill>
                <a:latin typeface="Liter"/>
                <a:ea typeface="Liter"/>
              </a:rPr>
              <a:t>#f7f5ef</a:t>
            </a:r>
            <a:endParaRPr lang="en-US" sz="850"/>
          </a:p>
        </p:txBody>
      </p:sp>
      <p:sp>
        <p:nvSpPr>
          <p:cNvPr id="18" name="prod-sw-2"/>
          <p:cNvSpPr/>
          <p:nvPr/>
        </p:nvSpPr>
        <p:spPr>
          <a:xfrm>
            <a:off x="7112000" y="2743200"/>
            <a:ext cx="609600" cy="609600"/>
          </a:xfrm>
          <a:prstGeom prst="rect">
            <a:avLst/>
          </a:prstGeom>
          <a:solidFill>
            <a:srgbClr val="B87333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19" name="prod-sw-2-label"/>
          <p:cNvSpPr txBox="1"/>
          <p:nvPr/>
        </p:nvSpPr>
        <p:spPr>
          <a:xfrm>
            <a:off x="7035800" y="34290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850" spc="50" kern="0">
                <a:solidFill>
                  <a:srgbClr val="5F625F"/>
                </a:solidFill>
                <a:latin typeface="Liter"/>
                <a:ea typeface="Liter"/>
              </a:rPr>
              <a:t>#b87333</a:t>
            </a:r>
            <a:endParaRPr lang="en-US" sz="850"/>
          </a:p>
        </p:txBody>
      </p:sp>
      <p:sp>
        <p:nvSpPr>
          <p:cNvPr id="20" name="prod-sw-3"/>
          <p:cNvSpPr/>
          <p:nvPr/>
        </p:nvSpPr>
        <p:spPr>
          <a:xfrm>
            <a:off x="7924800" y="2743200"/>
            <a:ext cx="609600" cy="609600"/>
          </a:xfrm>
          <a:prstGeom prst="rect">
            <a:avLst/>
          </a:prstGeom>
          <a:solidFill>
            <a:srgbClr val="79A9D8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21" name="prod-sw-3-label"/>
          <p:cNvSpPr txBox="1"/>
          <p:nvPr/>
        </p:nvSpPr>
        <p:spPr>
          <a:xfrm>
            <a:off x="7848600" y="34290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850" spc="50" kern="0">
                <a:solidFill>
                  <a:srgbClr val="5F625F"/>
                </a:solidFill>
                <a:latin typeface="Liter"/>
                <a:ea typeface="Liter"/>
              </a:rPr>
              <a:t>#79a9d8</a:t>
            </a:r>
            <a:endParaRPr lang="en-US" sz="850"/>
          </a:p>
        </p:txBody>
      </p:sp>
      <p:sp>
        <p:nvSpPr>
          <p:cNvPr id="22" name="prod-sw-4"/>
          <p:cNvSpPr/>
          <p:nvPr/>
        </p:nvSpPr>
        <p:spPr>
          <a:xfrm>
            <a:off x="8737600" y="2743200"/>
            <a:ext cx="609600" cy="6096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14118"/>
              </a:srgbClr>
            </a:solidFill>
          </a:ln>
        </p:spPr>
      </p:sp>
      <p:sp>
        <p:nvSpPr>
          <p:cNvPr id="23" name="prod-sw-4-label"/>
          <p:cNvSpPr txBox="1"/>
          <p:nvPr/>
        </p:nvSpPr>
        <p:spPr>
          <a:xfrm>
            <a:off x="8661400" y="34290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850" spc="50" kern="0">
                <a:solidFill>
                  <a:srgbClr val="5F625F"/>
                </a:solidFill>
                <a:latin typeface="Liter"/>
                <a:ea typeface="Liter"/>
              </a:rPr>
              <a:t>#111111</a:t>
            </a:r>
            <a:endParaRPr lang="en-US" sz="850"/>
          </a:p>
        </p:txBody>
      </p:sp>
      <p:sp>
        <p:nvSpPr>
          <p:cNvPr id="24" name="prod-note"/>
          <p:cNvSpPr txBox="1"/>
          <p:nvPr/>
        </p:nvSpPr>
        <p:spPr>
          <a:xfrm>
            <a:off x="6299200" y="38100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5000"/>
              </a:lnSpc>
            </a:pPr>
            <a:r>
              <a:rPr lang="en-US" sz="1200">
                <a:solidFill>
                  <a:srgbClr val="5F625F"/>
                </a:solidFill>
                <a:latin typeface="Liter"/>
                <a:ea typeface="Liter"/>
              </a:rPr>
              <a:t>Porcelain, industrial, daylight. The product the lab stands behind.</a:t>
            </a:r>
            <a:endParaRPr lang="en-US" sz="1200"/>
          </a:p>
        </p:txBody>
      </p:sp>
      <p:sp>
        <p:nvSpPr>
          <p:cNvPr id="25" name="divider"/>
          <p:cNvSpPr/>
          <p:nvPr/>
        </p:nvSpPr>
        <p:spPr>
          <a:xfrm>
            <a:off x="812800" y="4978400"/>
            <a:ext cx="10566400" cy="12700"/>
          </a:xfrm>
          <a:prstGeom prst="rect">
            <a:avLst/>
          </a:prstGeom>
          <a:solidFill>
            <a:srgbClr val="111111">
              <a:alpha val="14118"/>
            </a:srgbClr>
          </a:solidFill>
          <a:ln>
            <a:noFill/>
          </a:ln>
        </p:spPr>
      </p:sp>
      <p:sp>
        <p:nvSpPr>
          <p:cNvPr id="26" name="rule-line"/>
          <p:cNvSpPr txBox="1"/>
          <p:nvPr/>
        </p:nvSpPr>
        <p:spPr>
          <a:xfrm>
            <a:off x="812800" y="5257800"/>
            <a:ext cx="10566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10000"/>
              </a:lnSpc>
            </a:pPr>
            <a:r>
              <a:rPr lang="en-US" sz="2000">
                <a:solidFill>
                  <a:srgbClr val="111111"/>
                </a:solidFill>
                <a:latin typeface="Oranienbaum"/>
                <a:ea typeface="Oranienbaum"/>
              </a:rPr>
              <a:t>Dark slides make the argument. Light slides do the work.</a:t>
            </a:r>
            <a:endParaRPr lang="en-US" sz="2000"/>
          </a:p>
        </p:txBody>
      </p:sp>
      <p:sp>
        <p:nvSpPr>
          <p:cNvPr id="27" name="imagery-note"/>
          <p:cNvSpPr txBox="1"/>
          <p:nvPr/>
        </p:nvSpPr>
        <p:spPr>
          <a:xfrm>
            <a:off x="812800" y="5867400"/>
            <a:ext cx="10566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50000"/>
              </a:lnSpc>
            </a:pPr>
            <a:r>
              <a:rPr lang="en-US" sz="1000">
                <a:solidFill>
                  <a:srgbClr val="5F625F"/>
                </a:solidFill>
                <a:latin typeface="Liter"/>
                <a:ea typeface="Liter"/>
              </a:rPr>
              <a:t>Library and Archives Canada industrial photography, duotone treatment. No stock gloss, no fake stats, no fake testimonials.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13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